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337" r:id="rId2"/>
    <p:sldId id="402" r:id="rId3"/>
    <p:sldId id="435" r:id="rId4"/>
    <p:sldId id="436" r:id="rId5"/>
    <p:sldId id="437" r:id="rId6"/>
    <p:sldId id="438" r:id="rId7"/>
    <p:sldId id="439" r:id="rId8"/>
    <p:sldId id="440" r:id="rId9"/>
    <p:sldId id="441" r:id="rId10"/>
    <p:sldId id="442" r:id="rId11"/>
    <p:sldId id="443" r:id="rId12"/>
    <p:sldId id="444" r:id="rId13"/>
    <p:sldId id="445" r:id="rId14"/>
    <p:sldId id="446" r:id="rId15"/>
    <p:sldId id="447" r:id="rId1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84B1"/>
    <a:srgbClr val="E39803"/>
    <a:srgbClr val="FF0000"/>
    <a:srgbClr val="76C2E5"/>
    <a:srgbClr val="FCB0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4" autoAdjust="0"/>
    <p:restoredTop sz="93578" autoAdjust="0"/>
  </p:normalViewPr>
  <p:slideViewPr>
    <p:cSldViewPr>
      <p:cViewPr varScale="1">
        <p:scale>
          <a:sx n="85" d="100"/>
          <a:sy n="85" d="100"/>
        </p:scale>
        <p:origin x="76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5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BA1A87E-813F-AF0F-041D-CE232B7A18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90A33BCA-FF2B-904A-6ACB-421B4697E71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864C4CF4-219F-4C78-A5BA-B2F154A2CDD2}" type="datetimeFigureOut">
              <a:rPr lang="en-US"/>
              <a:pPr>
                <a:defRPr/>
              </a:pPr>
              <a:t>11/6/2025</a:t>
            </a:fld>
            <a:endParaRPr lang="en-US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E6881BB2-A257-BEB2-B237-5C60E2FE8C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84E1F9B0-0E05-EEE3-8B09-3292F5E58F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FD94DB07-1FBF-48D8-BE9B-EAD1CA85602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5" name="Rectangle 7">
            <a:extLst>
              <a:ext uri="{FF2B5EF4-FFF2-40B4-BE49-F238E27FC236}">
                <a16:creationId xmlns:a16="http://schemas.microsoft.com/office/drawing/2014/main" id="{B2D67A9F-79F1-685B-B7CE-85E68E027A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82BB320-F13B-41AF-BB84-306DCE9224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44FFA8F6-8FBE-2312-B2D6-012FDBF058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60994F52-302D-250C-116C-52081CB94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B92E2681-B4AB-B23F-9CED-5892333F8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A8604D-9FA4-4914-BD57-93266632D9AF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210E9-01D5-7472-677A-3B0AA2AD0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D2DDE-7A51-A1A8-5C34-99C6FAA2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D8106-2EFE-B03C-0DCC-E1803F83D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5451D-6138-4BA6-B687-6C9F908488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83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E8660-BD03-9DBA-9F27-92B953591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70716-1DFD-E96E-77AC-224DB37B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094D3-6482-D516-F215-AAD295B6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87A73-1AE0-46F8-856A-18EA1CF30A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6230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E40EF-D719-C1DF-C21A-2CF2ACF9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54D67-7283-208E-229E-EF4878C7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FBDCE-B7CC-6ED6-F37D-087059BBC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D9D01-1391-45E0-A9C5-C04635A436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8803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1B8B84-BA43-81F2-03D3-23F157EDD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C23C139-D613-6FE7-8352-A2E3C1C6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63CA6A-FAB2-9598-5FD6-5C5FFE4C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877344-E1C7-49F4-9630-5A0F623202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023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C99FE01-5AE9-7CCB-1DBD-1304A57A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A2B8239-FCBD-23CF-FA37-CDC50DB0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3DACE7-853A-4CB8-B825-278E151B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20D7B-F2AF-465A-8627-050A33B6A2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9797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0E68BBE-9DA8-9C9C-D822-7FC9D3829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BD6A7CF-E35D-4F42-293C-8BAB3F135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D87C34F-2852-49F1-C32D-490DE9743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B3AC73-65EA-4970-A755-094E5C634C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387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25E5740-931D-F5B1-D23F-DCBD0C38C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48D1279-085F-FADC-9335-EE951FC2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CD80BA-8A05-EF30-056C-D3B895E35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AE7E5-2F0D-40CB-89DC-60190FE7F7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5960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265D46-A9C7-CD06-5134-985F83276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8A55F7D-AFEF-402F-45C6-533ED83EF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F7864CC-5912-595A-947D-86ED4368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15581-CD01-4CEC-BC8F-7353CE8268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0446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E467ABF-5DBD-0F44-6269-D1296B66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1729259-95EB-ABB4-8CC1-6AAA526DC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2D7086-DF65-36F8-E6B6-082068B3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2052F0-E69A-488D-AA78-DE7ABB9591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5026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9C7B9-97C1-73C5-069B-8304F71A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4205D-B0EA-B535-1BCB-C052B27F3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810C2-A27B-66A7-0574-10C22519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9212A-F0D7-4AFF-A386-0ACFB0AAC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8412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9E6BE-7F7F-94ED-1232-D89436CB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733A2-CB01-A6CE-B5D3-DB2ECAFB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21FBA-0C17-A4B8-E194-E3AAE057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9BE82-4715-4ACA-919F-DBB11A70F4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5708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FBFFBE-14B2-F0AF-F4AC-4976B5EA7B3E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176F73-2534-EA66-9BA3-389159441E1E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143B4A-14C2-1094-BE58-15BD80B6D446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D759AA-21D7-ABA4-D5D7-76848EAA814B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4AC502B5-9275-C45A-F485-E98B733254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A90F2E-DD9A-35C4-D90C-49EB0FD21D5D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235B97-BCD1-B200-8B0C-6E7F31A5DD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371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9DAF1-3678-81CF-68D0-2FFF8BF1C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14762E-50A2-3FD2-FDF4-C54B9B6A93B8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A2326C-C066-820B-DC72-5D515C273E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2A3138-AE69-F27D-2EAA-23D2B3BFFE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772D5-DBDE-E801-75E8-5C65995AF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069C2E-6178-3D9A-0D54-C41412046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89347512-759C-4E18-9ECE-7FCE1DFA935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29025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3F7038-E9FE-3435-A99B-628D46289EF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1100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1100">
                <a:solidFill>
                  <a:srgbClr val="101141"/>
                </a:solidFill>
                <a:cs typeface="Arial" charset="0"/>
              </a:rPr>
              <a:t>Pilani, Pilani Campus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C581210D-00F8-03F9-A285-0EF404A95B2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981720D-E387-AAA5-1040-9B41570959D0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1E86A8-1855-7B69-B62C-6E258FDAA754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0F5A7EC-8365-09AA-A08B-63472C98828A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id="{055BCDEA-2A80-3C2D-080C-509BDDC90C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8">
            <a:extLst>
              <a:ext uri="{FF2B5EF4-FFF2-40B4-BE49-F238E27FC236}">
                <a16:creationId xmlns:a16="http://schemas.microsoft.com/office/drawing/2014/main" id="{4FE31975-C8A2-731C-B1AA-CCD2DCF57F5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57A10F7-F50B-DAEB-B974-D1288E571504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AECCB2B-C7CF-4843-D0DF-2886453D18BC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7A3C326-F746-6ED4-B21E-4BB970D1C982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>
            <a:extLst>
              <a:ext uri="{FF2B5EF4-FFF2-40B4-BE49-F238E27FC236}">
                <a16:creationId xmlns:a16="http://schemas.microsoft.com/office/drawing/2014/main" id="{09821B34-ED59-A848-42D8-7954EFE8425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DD3EB44-1837-0D6E-CE9B-DBC9F8518DD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4180C74-B502-6526-25D1-FD5B018B28F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1EECA1A-60B6-C307-32D5-77B6F2589D37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+mn-lt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+mn-lt"/>
                <a:cs typeface="Arial" pitchFamily="34" charset="0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6525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A203AAE-04EA-FB40-EB07-8B5C207984B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0F4528A-9CB7-CDAF-ED2B-34ED924411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94811-E68F-A5B1-AEDA-C6AFA290A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10422-B7F7-81EF-261E-27508681B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38BB7-5B9C-07D9-CEF5-0333C5055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875A4CA-FE82-4068-9563-37A5A44B58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33" r:id="rId1"/>
    <p:sldLayoutId id="2147484834" r:id="rId2"/>
    <p:sldLayoutId id="2147484835" r:id="rId3"/>
    <p:sldLayoutId id="2147484836" r:id="rId4"/>
    <p:sldLayoutId id="2147484837" r:id="rId5"/>
    <p:sldLayoutId id="2147484838" r:id="rId6"/>
    <p:sldLayoutId id="2147484839" r:id="rId7"/>
    <p:sldLayoutId id="2147484840" r:id="rId8"/>
    <p:sldLayoutId id="2147484841" r:id="rId9"/>
    <p:sldLayoutId id="2147484842" r:id="rId10"/>
    <p:sldLayoutId id="2147484843" r:id="rId11"/>
    <p:sldLayoutId id="2147484844" r:id="rId12"/>
    <p:sldLayoutId id="2147484861" r:id="rId13"/>
    <p:sldLayoutId id="2147484862" r:id="rId14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4">
            <a:extLst>
              <a:ext uri="{FF2B5EF4-FFF2-40B4-BE49-F238E27FC236}">
                <a16:creationId xmlns:a16="http://schemas.microsoft.com/office/drawing/2014/main" id="{82CCF8E8-8D44-B829-5D34-BCFE6E2C9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BITS </a:t>
            </a:r>
            <a:r>
              <a:rPr lang="en-US" altLang="en-US" dirty="0" err="1"/>
              <a:t>Pilani</a:t>
            </a:r>
            <a:r>
              <a:rPr lang="en-US" altLang="en-US" dirty="0"/>
              <a:t> </a:t>
            </a:r>
            <a:br>
              <a:rPr lang="en-US" altLang="en-US" dirty="0"/>
            </a:br>
            <a:r>
              <a:rPr lang="en-US" altLang="en-US" dirty="0"/>
              <a:t>Digital Design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BD772D-9840-4762-E3C3-128057D3E94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Prof. GSS </a:t>
            </a:r>
            <a:r>
              <a:rPr lang="en-US" dirty="0" err="1"/>
              <a:t>Chalapathi</a:t>
            </a:r>
            <a:r>
              <a:rPr lang="en-US" dirty="0"/>
              <a:t>, Prof. Saurabh Gandhi (EEE department)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60A1A136-0209-90F1-B1E4-6D0F79EE26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447800"/>
            <a:ext cx="5105400" cy="51054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439D3-5825-E989-96F9-EF0D6E48C41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Attendance!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C6D221-3557-4B26-23D4-4BAF1442A190}"/>
              </a:ext>
            </a:extLst>
          </p:cNvPr>
          <p:cNvSpPr txBox="1"/>
          <p:nvPr/>
        </p:nvSpPr>
        <p:spPr>
          <a:xfrm>
            <a:off x="5486400" y="1905000"/>
            <a:ext cx="33528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Will be opened only during the attendance window.</a:t>
            </a:r>
          </a:p>
          <a:p>
            <a:endParaRPr lang="en-IN" dirty="0"/>
          </a:p>
          <a:p>
            <a:r>
              <a:rPr lang="en-IN" dirty="0"/>
              <a:t>Enable location on your device.</a:t>
            </a:r>
          </a:p>
          <a:p>
            <a:endParaRPr lang="en-IN" dirty="0"/>
          </a:p>
          <a:p>
            <a:r>
              <a:rPr lang="en-IN" dirty="0"/>
              <a:t>Grant any location permissions requested by the website.</a:t>
            </a:r>
          </a:p>
          <a:p>
            <a:endParaRPr lang="en-IN" dirty="0"/>
          </a:p>
          <a:p>
            <a:r>
              <a:rPr lang="en-IN" dirty="0"/>
              <a:t>Refresh the page.</a:t>
            </a:r>
          </a:p>
          <a:p>
            <a:endParaRPr lang="en-IN" dirty="0"/>
          </a:p>
          <a:p>
            <a:r>
              <a:rPr lang="en-IN" dirty="0"/>
              <a:t>Try submitting again.</a:t>
            </a:r>
          </a:p>
        </p:txBody>
      </p:sp>
    </p:spTree>
    <p:extLst>
      <p:ext uri="{BB962C8B-B14F-4D97-AF65-F5344CB8AC3E}">
        <p14:creationId xmlns:p14="http://schemas.microsoft.com/office/powerpoint/2010/main" val="242540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0F93F-8EFD-4014-BC09-26E2B70F662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Remember our sequential multiplier?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EFEB284-F652-4AB9-955C-48FEBD5F44F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600200"/>
            <a:ext cx="5678728" cy="2959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1A48F3-E5AF-43A4-9EC0-977CB87520E5}"/>
              </a:ext>
            </a:extLst>
          </p:cNvPr>
          <p:cNvSpPr txBox="1"/>
          <p:nvPr/>
        </p:nvSpPr>
        <p:spPr>
          <a:xfrm>
            <a:off x="5678728" y="1600200"/>
            <a:ext cx="33528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IN" dirty="0"/>
              <a:t>Want to build a digital system that does this</a:t>
            </a:r>
          </a:p>
          <a:p>
            <a:pPr marL="285750" indent="-285750">
              <a:buFontTx/>
              <a:buChar char="-"/>
            </a:pPr>
            <a:endParaRPr lang="en-IN" dirty="0"/>
          </a:p>
          <a:p>
            <a:pPr marL="285750" indent="-285750">
              <a:buFontTx/>
              <a:buChar char="-"/>
            </a:pPr>
            <a:r>
              <a:rPr lang="en-IN" dirty="0"/>
              <a:t>What all does the system need to do?</a:t>
            </a:r>
          </a:p>
          <a:p>
            <a:pPr marL="285750" indent="-285750">
              <a:buFontTx/>
              <a:buChar char="-"/>
            </a:pPr>
            <a:endParaRPr lang="en-IN" dirty="0"/>
          </a:p>
          <a:p>
            <a:pPr marL="742950" lvl="1" indent="-285750">
              <a:buFontTx/>
              <a:buChar char="-"/>
            </a:pPr>
            <a:r>
              <a:rPr lang="en-IN" dirty="0">
                <a:solidFill>
                  <a:srgbClr val="0070C0"/>
                </a:solidFill>
              </a:rPr>
              <a:t>Arithmetic operations</a:t>
            </a:r>
          </a:p>
          <a:p>
            <a:pPr marL="285750" indent="-285750">
              <a:buFontTx/>
              <a:buChar char="-"/>
            </a:pPr>
            <a:endParaRPr lang="en-IN" dirty="0"/>
          </a:p>
          <a:p>
            <a:pPr marL="742950" lvl="1" indent="-285750">
              <a:buFontTx/>
              <a:buChar char="-"/>
            </a:pPr>
            <a:r>
              <a:rPr lang="en-IN" dirty="0">
                <a:solidFill>
                  <a:schemeClr val="accent6"/>
                </a:solidFill>
              </a:rPr>
              <a:t>Decision regarding what operations to perform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E5A485-12BA-4805-96B7-9CEA1662419A}"/>
              </a:ext>
            </a:extLst>
          </p:cNvPr>
          <p:cNvSpPr txBox="1"/>
          <p:nvPr/>
        </p:nvSpPr>
        <p:spPr>
          <a:xfrm>
            <a:off x="304800" y="5073134"/>
            <a:ext cx="85344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IN" dirty="0">
                <a:solidFill>
                  <a:srgbClr val="0070C0"/>
                </a:solidFill>
              </a:rPr>
              <a:t>Arithmetic operations (data processing): data path (data unit)</a:t>
            </a:r>
          </a:p>
          <a:p>
            <a:pPr marL="285750" indent="-285750">
              <a:buFontTx/>
              <a:buChar char="-"/>
            </a:pPr>
            <a:r>
              <a:rPr lang="en-IN" dirty="0">
                <a:solidFill>
                  <a:srgbClr val="0070C0"/>
                </a:solidFill>
              </a:rPr>
              <a:t>Inputs: data, control signals</a:t>
            </a:r>
          </a:p>
          <a:p>
            <a:pPr marL="285750" indent="-285750">
              <a:buFontTx/>
              <a:buChar char="-"/>
            </a:pPr>
            <a:endParaRPr lang="en-IN" dirty="0"/>
          </a:p>
          <a:p>
            <a:pPr marL="285750" indent="-285750">
              <a:buFontTx/>
              <a:buChar char="-"/>
            </a:pPr>
            <a:r>
              <a:rPr lang="en-IN" dirty="0">
                <a:solidFill>
                  <a:schemeClr val="accent6"/>
                </a:solidFill>
              </a:rPr>
              <a:t>Decision making with proper timing: control path (control unit)</a:t>
            </a:r>
          </a:p>
          <a:p>
            <a:pPr marL="285750" indent="-285750">
              <a:buFontTx/>
              <a:buChar char="-"/>
            </a:pPr>
            <a:r>
              <a:rPr lang="en-IN" dirty="0">
                <a:solidFill>
                  <a:schemeClr val="accent6"/>
                </a:solidFill>
              </a:rPr>
              <a:t>Inputs: external conditions + internal ‘status’</a:t>
            </a:r>
          </a:p>
        </p:txBody>
      </p:sp>
    </p:spTree>
    <p:extLst>
      <p:ext uri="{BB962C8B-B14F-4D97-AF65-F5344CB8AC3E}">
        <p14:creationId xmlns:p14="http://schemas.microsoft.com/office/powerpoint/2010/main" val="2821382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8904FF-2263-4205-9DE1-D02B339C81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390" y="1437871"/>
            <a:ext cx="5524962" cy="3492792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E41F1-5753-4606-BFCA-1242D4C87CD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Control and data path interaction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910A09-9AEB-4E17-9383-567FBAF035B1}"/>
              </a:ext>
            </a:extLst>
          </p:cNvPr>
          <p:cNvSpPr txBox="1"/>
          <p:nvPr/>
        </p:nvSpPr>
        <p:spPr>
          <a:xfrm>
            <a:off x="304800" y="5073134"/>
            <a:ext cx="85344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IN" dirty="0">
                <a:solidFill>
                  <a:srgbClr val="0070C0"/>
                </a:solidFill>
              </a:rPr>
              <a:t>Arithmetic operations (data processing): data path (data unit)</a:t>
            </a:r>
          </a:p>
          <a:p>
            <a:pPr marL="285750" indent="-285750">
              <a:buFontTx/>
              <a:buChar char="-"/>
            </a:pPr>
            <a:r>
              <a:rPr lang="en-IN" dirty="0">
                <a:solidFill>
                  <a:srgbClr val="0070C0"/>
                </a:solidFill>
              </a:rPr>
              <a:t>Inputs: data, control signals</a:t>
            </a:r>
          </a:p>
          <a:p>
            <a:pPr marL="285750" indent="-285750">
              <a:buFontTx/>
              <a:buChar char="-"/>
            </a:pPr>
            <a:endParaRPr lang="en-IN" dirty="0"/>
          </a:p>
          <a:p>
            <a:pPr marL="285750" indent="-285750">
              <a:buFontTx/>
              <a:buChar char="-"/>
            </a:pPr>
            <a:r>
              <a:rPr lang="en-IN" dirty="0">
                <a:solidFill>
                  <a:schemeClr val="accent6"/>
                </a:solidFill>
              </a:rPr>
              <a:t>Decision making with proper timing: control path (control unit)</a:t>
            </a:r>
          </a:p>
          <a:p>
            <a:pPr marL="285750" indent="-285750">
              <a:buFontTx/>
              <a:buChar char="-"/>
            </a:pPr>
            <a:r>
              <a:rPr lang="en-IN" dirty="0">
                <a:solidFill>
                  <a:schemeClr val="accent6"/>
                </a:solidFill>
              </a:rPr>
              <a:t>Inputs: external conditions + internal ‘status’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03C85B-4510-4588-950B-1D96F4ED644F}"/>
              </a:ext>
            </a:extLst>
          </p:cNvPr>
          <p:cNvSpPr txBox="1"/>
          <p:nvPr/>
        </p:nvSpPr>
        <p:spPr>
          <a:xfrm>
            <a:off x="5678728" y="1931075"/>
            <a:ext cx="33528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Combinational or sequential?</a:t>
            </a:r>
          </a:p>
          <a:p>
            <a:endParaRPr lang="en-IN" dirty="0">
              <a:solidFill>
                <a:srgbClr val="0070C0"/>
              </a:solidFill>
            </a:endParaRPr>
          </a:p>
          <a:p>
            <a:r>
              <a:rPr lang="en-IN" dirty="0">
                <a:solidFill>
                  <a:srgbClr val="0070C0"/>
                </a:solidFill>
              </a:rPr>
              <a:t>Data path?</a:t>
            </a:r>
          </a:p>
          <a:p>
            <a:pPr marL="285750" indent="-285750">
              <a:buFontTx/>
              <a:buChar char="-"/>
            </a:pPr>
            <a:r>
              <a:rPr lang="en-IN" dirty="0">
                <a:solidFill>
                  <a:srgbClr val="0070C0"/>
                </a:solidFill>
              </a:rPr>
              <a:t>Combinational!</a:t>
            </a:r>
          </a:p>
          <a:p>
            <a:endParaRPr lang="en-IN" dirty="0"/>
          </a:p>
          <a:p>
            <a:r>
              <a:rPr lang="en-IN" dirty="0">
                <a:solidFill>
                  <a:schemeClr val="accent6"/>
                </a:solidFill>
              </a:rPr>
              <a:t>Control path?</a:t>
            </a:r>
          </a:p>
          <a:p>
            <a:pPr marL="285750" indent="-285750">
              <a:buFontTx/>
              <a:buChar char="-"/>
            </a:pPr>
            <a:r>
              <a:rPr lang="en-IN" dirty="0">
                <a:solidFill>
                  <a:schemeClr val="accent6"/>
                </a:solidFill>
              </a:rPr>
              <a:t>Sequential!</a:t>
            </a:r>
          </a:p>
        </p:txBody>
      </p:sp>
    </p:spTree>
    <p:extLst>
      <p:ext uri="{BB962C8B-B14F-4D97-AF65-F5344CB8AC3E}">
        <p14:creationId xmlns:p14="http://schemas.microsoft.com/office/powerpoint/2010/main" val="880026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C99E71-1941-4871-AF65-CE0E050F8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dirty="0"/>
              <a:t>Control sequence and data processing tasks are specified by means of Hardware Algorithm.</a:t>
            </a:r>
          </a:p>
          <a:p>
            <a:pPr lvl="1">
              <a:buFontTx/>
              <a:buChar char="-"/>
            </a:pPr>
            <a:r>
              <a:rPr lang="en-US" sz="2000" dirty="0"/>
              <a:t>Algorithm: algorithm consists of a finite number of procedural steps that specify how to obtain a solution to a problem</a:t>
            </a:r>
          </a:p>
          <a:p>
            <a:pPr lvl="1">
              <a:buFontTx/>
              <a:buChar char="-"/>
            </a:pPr>
            <a:r>
              <a:rPr lang="en-US" sz="2000" dirty="0"/>
              <a:t>Hardware algorithm: procedure for solving the problem with a given piece of equipment</a:t>
            </a:r>
          </a:p>
          <a:p>
            <a:pPr>
              <a:buFontTx/>
              <a:buChar char="-"/>
            </a:pPr>
            <a:r>
              <a:rPr lang="en-US" dirty="0"/>
              <a:t>Flowchart: sequence of procedural steps</a:t>
            </a:r>
          </a:p>
          <a:p>
            <a:pPr lvl="1">
              <a:buFontTx/>
              <a:buChar char="-"/>
            </a:pPr>
            <a:r>
              <a:rPr lang="en-US" sz="2000" dirty="0"/>
              <a:t>Not concerned with the time relationship between steps (states)</a:t>
            </a:r>
          </a:p>
          <a:p>
            <a:pPr>
              <a:buFontTx/>
              <a:buChar char="-"/>
            </a:pPr>
            <a:r>
              <a:rPr lang="en-US" dirty="0"/>
              <a:t>A special flowchart developed to design digital hardware algorithms is called Algorithmic State Machines (ASM)</a:t>
            </a:r>
          </a:p>
          <a:p>
            <a:pPr lvl="1">
              <a:buFontTx/>
              <a:buChar char="-"/>
            </a:pPr>
            <a:r>
              <a:rPr lang="en-US" sz="2000" dirty="0"/>
              <a:t>Sequence of steps</a:t>
            </a:r>
          </a:p>
          <a:p>
            <a:pPr lvl="1">
              <a:buFontTx/>
              <a:buChar char="-"/>
            </a:pPr>
            <a:r>
              <a:rPr lang="en-US" sz="2000" dirty="0"/>
              <a:t>+ relationships between states of the 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49914-92C5-4DD7-A4CA-C86FB206C8B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Algorithmic State Machine (ASM)</a:t>
            </a:r>
          </a:p>
        </p:txBody>
      </p:sp>
    </p:spTree>
    <p:extLst>
      <p:ext uri="{BB962C8B-B14F-4D97-AF65-F5344CB8AC3E}">
        <p14:creationId xmlns:p14="http://schemas.microsoft.com/office/powerpoint/2010/main" val="3957678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1919471-04CB-426C-8675-8E63BAF644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" y="1676400"/>
            <a:ext cx="4293860" cy="4525962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1405-64A2-4450-B94F-7B46E2764E9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Components of an ASM chart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C4A1A6-0840-42FC-AD20-64E8F6C65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5578" y="1667435"/>
            <a:ext cx="2133600" cy="10933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F64C6E0-24D3-4192-850A-502DB79629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1317" y="2873189"/>
            <a:ext cx="1955696" cy="17615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8EE26F9-3861-4B0C-91B9-EDFAB9E6C10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9694"/>
          <a:stretch/>
        </p:blipFill>
        <p:spPr>
          <a:xfrm>
            <a:off x="4697505" y="4881282"/>
            <a:ext cx="1364565" cy="100164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39BF7F8-9983-451C-A49D-32CD12061755}"/>
              </a:ext>
            </a:extLst>
          </p:cNvPr>
          <p:cNvSpPr txBox="1"/>
          <p:nvPr/>
        </p:nvSpPr>
        <p:spPr>
          <a:xfrm>
            <a:off x="6611470" y="1521624"/>
            <a:ext cx="2550693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E39803"/>
                </a:solidFill>
              </a:rPr>
              <a:t>State box</a:t>
            </a:r>
          </a:p>
          <a:p>
            <a:pPr marL="285750" indent="-285750">
              <a:buFontTx/>
              <a:buChar char="-"/>
            </a:pPr>
            <a:r>
              <a:rPr lang="en-IN" sz="1400" dirty="0">
                <a:solidFill>
                  <a:srgbClr val="E39803"/>
                </a:solidFill>
              </a:rPr>
              <a:t>Indicates a state (top left description and top right code)</a:t>
            </a:r>
          </a:p>
          <a:p>
            <a:pPr marL="285750" indent="-285750">
              <a:buFontTx/>
              <a:buChar char="-"/>
            </a:pPr>
            <a:r>
              <a:rPr lang="en-IN" sz="1400" dirty="0">
                <a:solidFill>
                  <a:srgbClr val="E39803"/>
                </a:solidFill>
              </a:rPr>
              <a:t>Register operations (b)</a:t>
            </a:r>
          </a:p>
          <a:p>
            <a:r>
              <a:rPr lang="en-IN" sz="1400" dirty="0">
                <a:solidFill>
                  <a:srgbClr val="E39803"/>
                </a:solidFill>
              </a:rPr>
              <a:t>	OR</a:t>
            </a:r>
          </a:p>
          <a:p>
            <a:pPr marL="285750" indent="-285750">
              <a:buFontTx/>
              <a:buChar char="-"/>
            </a:pPr>
            <a:r>
              <a:rPr lang="en-IN" sz="1400" dirty="0">
                <a:solidFill>
                  <a:srgbClr val="E39803"/>
                </a:solidFill>
              </a:rPr>
              <a:t>o/p control signal (c)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3178A5-E76D-407B-AAFA-A4A5DB3C823F}"/>
              </a:ext>
            </a:extLst>
          </p:cNvPr>
          <p:cNvSpPr txBox="1"/>
          <p:nvPr/>
        </p:nvSpPr>
        <p:spPr>
          <a:xfrm>
            <a:off x="6629400" y="3280844"/>
            <a:ext cx="255069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2184B1"/>
                </a:solidFill>
              </a:rPr>
              <a:t>Decision box</a:t>
            </a:r>
          </a:p>
          <a:p>
            <a:pPr marL="285750" indent="-285750">
              <a:buFontTx/>
              <a:buChar char="-"/>
            </a:pPr>
            <a:r>
              <a:rPr lang="en-IN" sz="1400" dirty="0">
                <a:solidFill>
                  <a:srgbClr val="2184B1"/>
                </a:solidFill>
              </a:rPr>
              <a:t>Condition to be tested</a:t>
            </a:r>
          </a:p>
          <a:p>
            <a:pPr marL="285750" indent="-285750">
              <a:buFontTx/>
              <a:buChar char="-"/>
            </a:pPr>
            <a:r>
              <a:rPr lang="en-IN" sz="1400" dirty="0">
                <a:solidFill>
                  <a:srgbClr val="2184B1"/>
                </a:solidFill>
              </a:rPr>
              <a:t>Possible exit paths (typically 2 for binary conditions)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0DF6F5-CE2E-46EB-A288-0C34F4AAD8B8}"/>
              </a:ext>
            </a:extLst>
          </p:cNvPr>
          <p:cNvSpPr txBox="1"/>
          <p:nvPr/>
        </p:nvSpPr>
        <p:spPr>
          <a:xfrm>
            <a:off x="6629400" y="4609177"/>
            <a:ext cx="255069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FF0000"/>
                </a:solidFill>
              </a:rPr>
              <a:t>Conditional box</a:t>
            </a:r>
          </a:p>
          <a:p>
            <a:pPr marL="285750" indent="-285750">
              <a:buFontTx/>
              <a:buChar char="-"/>
            </a:pPr>
            <a:r>
              <a:rPr lang="en-IN" sz="1400" dirty="0">
                <a:solidFill>
                  <a:srgbClr val="FF0000"/>
                </a:solidFill>
              </a:rPr>
              <a:t>Input always from the exit path of a condition box</a:t>
            </a:r>
          </a:p>
          <a:p>
            <a:pPr marL="285750" indent="-285750">
              <a:buFontTx/>
              <a:buChar char="-"/>
            </a:pPr>
            <a:r>
              <a:rPr lang="en-IN" sz="1400" dirty="0">
                <a:solidFill>
                  <a:srgbClr val="FF0000"/>
                </a:solidFill>
              </a:rPr>
              <a:t>Register operations OR o/p control signals</a:t>
            </a:r>
          </a:p>
          <a:p>
            <a:pPr marL="285750" indent="-285750">
              <a:buFontTx/>
              <a:buChar char="-"/>
            </a:pPr>
            <a:r>
              <a:rPr lang="en-IN" sz="1400" dirty="0">
                <a:solidFill>
                  <a:srgbClr val="FF0000"/>
                </a:solidFill>
              </a:rPr>
              <a:t>These are generated during the state if conditions are met</a:t>
            </a:r>
          </a:p>
        </p:txBody>
      </p:sp>
    </p:spTree>
    <p:extLst>
      <p:ext uri="{BB962C8B-B14F-4D97-AF65-F5344CB8AC3E}">
        <p14:creationId xmlns:p14="http://schemas.microsoft.com/office/powerpoint/2010/main" val="2857911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/>
      <p:bldP spid="16" grpId="0" uiExpand="1" build="p"/>
      <p:bldP spid="17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C3E9EF-215D-418F-A36B-609F1441F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371600"/>
            <a:ext cx="5486400" cy="5334000"/>
          </a:xfrm>
        </p:spPr>
        <p:txBody>
          <a:bodyPr>
            <a:normAutofit fontScale="92500" lnSpcReduction="10000"/>
          </a:bodyPr>
          <a:lstStyle/>
          <a:p>
            <a:pPr>
              <a:buFontTx/>
              <a:buChar char="-"/>
            </a:pPr>
            <a:r>
              <a:rPr lang="en-US" dirty="0"/>
              <a:t>Structure containing one state box and all decision and conditional boxes connected to the state box exit path</a:t>
            </a:r>
          </a:p>
          <a:p>
            <a:pPr>
              <a:buFontTx/>
              <a:buChar char="-"/>
            </a:pPr>
            <a:r>
              <a:rPr lang="en-US" dirty="0"/>
              <a:t>ASM block has </a:t>
            </a:r>
            <a:r>
              <a:rPr lang="en-US" b="1" dirty="0"/>
              <a:t>1 input (entrance)</a:t>
            </a:r>
            <a:r>
              <a:rPr lang="en-US" dirty="0"/>
              <a:t>, and any number of exit paths</a:t>
            </a:r>
          </a:p>
          <a:p>
            <a:pPr>
              <a:buFontTx/>
              <a:buChar char="-"/>
            </a:pPr>
            <a:r>
              <a:rPr lang="en-US" dirty="0"/>
              <a:t>Describes the state of the system during 1 clock cycle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accent6"/>
                </a:solidFill>
              </a:rPr>
              <a:t>All operations</a:t>
            </a:r>
            <a:r>
              <a:rPr lang="en-US" dirty="0"/>
              <a:t> inside the block are initiated </a:t>
            </a:r>
            <a:r>
              <a:rPr lang="en-US" dirty="0">
                <a:solidFill>
                  <a:schemeClr val="accent6"/>
                </a:solidFill>
              </a:rPr>
              <a:t>simultaneously</a:t>
            </a:r>
            <a:r>
              <a:rPr lang="en-US" dirty="0"/>
              <a:t> when the system </a:t>
            </a:r>
            <a:r>
              <a:rPr lang="en-US" dirty="0">
                <a:solidFill>
                  <a:srgbClr val="0070C0"/>
                </a:solidFill>
              </a:rPr>
              <a:t>transitions </a:t>
            </a:r>
            <a:r>
              <a:rPr lang="en-US" b="1" i="1" dirty="0">
                <a:solidFill>
                  <a:srgbClr val="0070C0"/>
                </a:solidFill>
              </a:rPr>
              <a:t>out</a:t>
            </a:r>
            <a:r>
              <a:rPr lang="en-US" dirty="0"/>
              <a:t> of the state into the next state</a:t>
            </a:r>
          </a:p>
          <a:p>
            <a:pPr>
              <a:buFontTx/>
              <a:buChar char="-"/>
            </a:pPr>
            <a:r>
              <a:rPr lang="en-US" dirty="0"/>
              <a:t>Similar to a state diagram:</a:t>
            </a:r>
          </a:p>
          <a:p>
            <a:pPr lvl="1">
              <a:buFontTx/>
              <a:buChar char="-"/>
            </a:pPr>
            <a:r>
              <a:rPr lang="en-US" sz="1800" dirty="0"/>
              <a:t>State box </a:t>
            </a:r>
            <a:r>
              <a:rPr lang="en-US" sz="1800" dirty="0">
                <a:sym typeface="Wingdings" panose="05000000000000000000" pitchFamily="2" charset="2"/>
              </a:rPr>
              <a:t> state</a:t>
            </a:r>
          </a:p>
          <a:p>
            <a:pPr lvl="1">
              <a:buFontTx/>
              <a:buChar char="-"/>
            </a:pPr>
            <a:r>
              <a:rPr lang="en-US" sz="1800" dirty="0">
                <a:sym typeface="Wingdings" panose="05000000000000000000" pitchFamily="2" charset="2"/>
              </a:rPr>
              <a:t>Decision box  edge connecting states</a:t>
            </a:r>
          </a:p>
          <a:p>
            <a:pPr>
              <a:buFontTx/>
              <a:buChar char="-"/>
            </a:pPr>
            <a:r>
              <a:rPr lang="en-US" dirty="0">
                <a:sym typeface="Wingdings" panose="05000000000000000000" pitchFamily="2" charset="2"/>
              </a:rPr>
              <a:t>Similar design process for control path as you did for sequential circuits!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C9540-BDCB-4FED-9D0F-B2684D81FD4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ASM Block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C04EFB-DF43-4010-BD5D-E44698C60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3941" y="1434354"/>
            <a:ext cx="3113483" cy="34822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ED66A8-7EEB-45D3-BECC-F5ECDE1A2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397" y="4893137"/>
            <a:ext cx="1857709" cy="158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946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C38F38F-BFDC-4FEB-B90F-1250D0A4E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Conventional flowcharts: the listed operations follow one after another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ASM chart: everything within a block happens simultaneously, synchronized to the clock pulse!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C56D6-21D3-4522-B7AE-3BF20A77124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Comparison to conventional flowcharts</a:t>
            </a:r>
          </a:p>
        </p:txBody>
      </p:sp>
    </p:spTree>
    <p:extLst>
      <p:ext uri="{BB962C8B-B14F-4D97-AF65-F5344CB8AC3E}">
        <p14:creationId xmlns:p14="http://schemas.microsoft.com/office/powerpoint/2010/main" val="3841799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35B18E-4665-4428-9ED6-8C004E091A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6553"/>
          <a:stretch/>
        </p:blipFill>
        <p:spPr>
          <a:xfrm>
            <a:off x="55576" y="1371600"/>
            <a:ext cx="4346782" cy="4651582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D774A-4342-4555-8D21-7C14CC901EE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Projects (next 1 - 2 semesters)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EA2BED-2889-4C56-A468-7F7959DFC78E}"/>
              </a:ext>
            </a:extLst>
          </p:cNvPr>
          <p:cNvSpPr txBox="1"/>
          <p:nvPr/>
        </p:nvSpPr>
        <p:spPr>
          <a:xfrm>
            <a:off x="4191000" y="1447800"/>
            <a:ext cx="4764054" cy="5042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AutoNum type="arabicPeriod"/>
            </a:pPr>
            <a:r>
              <a:rPr lang="en-IN" sz="1500" dirty="0"/>
              <a:t>Development of teaching / learning tools</a:t>
            </a:r>
          </a:p>
          <a:p>
            <a:pPr marL="857250" lvl="1" indent="-400050">
              <a:spcAft>
                <a:spcPts val="800"/>
              </a:spcAft>
              <a:buFont typeface="+mj-lt"/>
              <a:buAutoNum type="romanLcPeriod"/>
            </a:pPr>
            <a:r>
              <a:rPr lang="en-IN" sz="1500" dirty="0"/>
              <a:t>Easy to create / deploy pop quiz addons for PPT / Google Slides</a:t>
            </a:r>
          </a:p>
          <a:p>
            <a:pPr lvl="2">
              <a:spcAft>
                <a:spcPts val="800"/>
              </a:spcAft>
            </a:pPr>
            <a:r>
              <a:rPr lang="en-IN" sz="1500" dirty="0">
                <a:sym typeface="Wingdings" panose="05000000000000000000" pitchFamily="2" charset="2"/>
              </a:rPr>
              <a:t> </a:t>
            </a:r>
            <a:r>
              <a:rPr lang="en-IN" sz="1500" dirty="0"/>
              <a:t>Web stack, general coding</a:t>
            </a:r>
          </a:p>
          <a:p>
            <a:pPr marL="800100" lvl="1" indent="-342900">
              <a:spcAft>
                <a:spcPts val="800"/>
              </a:spcAft>
              <a:buAutoNum type="romanLcPeriod"/>
            </a:pPr>
            <a:r>
              <a:rPr lang="en-IN" sz="1500" dirty="0"/>
              <a:t>LLM based adaptive unit testing platform</a:t>
            </a:r>
          </a:p>
          <a:p>
            <a:pPr lvl="2">
              <a:spcAft>
                <a:spcPts val="800"/>
              </a:spcAft>
            </a:pPr>
            <a:r>
              <a:rPr lang="en-IN" sz="1500" dirty="0">
                <a:sym typeface="Wingdings" panose="05000000000000000000" pitchFamily="2" charset="2"/>
              </a:rPr>
              <a:t> </a:t>
            </a:r>
            <a:r>
              <a:rPr lang="en-IN" sz="1500" dirty="0"/>
              <a:t>Web stack, LLM integration</a:t>
            </a:r>
          </a:p>
          <a:p>
            <a:pPr>
              <a:spcAft>
                <a:spcPts val="800"/>
              </a:spcAft>
            </a:pPr>
            <a:r>
              <a:rPr lang="en-IN" sz="1500" dirty="0"/>
              <a:t>*Find an interested senior who has taken Comp Arch and was good at it.</a:t>
            </a:r>
          </a:p>
          <a:p>
            <a:pPr>
              <a:spcAft>
                <a:spcPts val="800"/>
              </a:spcAft>
            </a:pPr>
            <a:r>
              <a:rPr lang="en-IN" sz="1500" dirty="0"/>
              <a:t>*Add their name in the ‘Other’ question in the form</a:t>
            </a:r>
          </a:p>
          <a:p>
            <a:pPr>
              <a:spcAft>
                <a:spcPts val="800"/>
              </a:spcAft>
            </a:pPr>
            <a:r>
              <a:rPr lang="en-IN" sz="1500" dirty="0"/>
              <a:t>*They should also fill the form separately, and mention </a:t>
            </a:r>
            <a:r>
              <a:rPr lang="en-IN" sz="1500" i="1" dirty="0"/>
              <a:t>your</a:t>
            </a:r>
            <a:r>
              <a:rPr lang="en-IN" sz="1500" dirty="0"/>
              <a:t> name + </a:t>
            </a:r>
            <a:r>
              <a:rPr lang="en-IN" sz="1500" i="1" dirty="0"/>
              <a:t>their</a:t>
            </a:r>
            <a:r>
              <a:rPr lang="en-IN" sz="1500" dirty="0"/>
              <a:t> comp arch grade in the ‘Other’ question (</a:t>
            </a:r>
            <a:r>
              <a:rPr lang="en-IN" sz="1500" i="1" dirty="0"/>
              <a:t>Senior can be taken as TA for CS F342)</a:t>
            </a:r>
            <a:endParaRPr lang="en-IN" sz="1500" dirty="0"/>
          </a:p>
          <a:p>
            <a:pPr>
              <a:spcAft>
                <a:spcPts val="800"/>
              </a:spcAft>
            </a:pPr>
            <a:r>
              <a:rPr lang="en-IN" sz="1500" b="1" dirty="0"/>
              <a:t>*Fill by: Saturday night; Start: Next week!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 startAt="2"/>
            </a:pPr>
            <a:r>
              <a:rPr lang="en-IN" sz="1500" dirty="0"/>
              <a:t>Neuroscience</a:t>
            </a:r>
          </a:p>
          <a:p>
            <a:pPr marL="857250" lvl="1" indent="-400050">
              <a:spcAft>
                <a:spcPts val="800"/>
              </a:spcAft>
              <a:buFont typeface="+mj-lt"/>
              <a:buAutoNum type="romanLcPeriod"/>
            </a:pPr>
            <a:r>
              <a:rPr lang="en-IN" sz="1500" dirty="0"/>
              <a:t>Cognitive neuroscience experiments</a:t>
            </a:r>
            <a:br>
              <a:rPr lang="en-IN" sz="1500" dirty="0"/>
            </a:br>
            <a:r>
              <a:rPr lang="en-IN" sz="1500" dirty="0">
                <a:sym typeface="Wingdings" panose="05000000000000000000" pitchFamily="2" charset="2"/>
              </a:rPr>
              <a:t> </a:t>
            </a:r>
            <a:r>
              <a:rPr lang="en-IN" sz="1500" dirty="0"/>
              <a:t>Long term research interest only (2-3 semester commitment)</a:t>
            </a:r>
          </a:p>
        </p:txBody>
      </p:sp>
    </p:spTree>
    <p:extLst>
      <p:ext uri="{BB962C8B-B14F-4D97-AF65-F5344CB8AC3E}">
        <p14:creationId xmlns:p14="http://schemas.microsoft.com/office/powerpoint/2010/main" val="1727243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F6399C7-3CF1-4FBC-9C22-DC35D3D24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7"/>
            <a:ext cx="5410200" cy="5013884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u="sng" dirty="0"/>
              <a:t>Parts:</a:t>
            </a:r>
          </a:p>
          <a:p>
            <a:pPr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2 FFs (named </a:t>
            </a:r>
            <a:r>
              <a:rPr lang="en-US" i="1" dirty="0"/>
              <a:t>E</a:t>
            </a:r>
            <a:r>
              <a:rPr lang="en-US" dirty="0"/>
              <a:t> and </a:t>
            </a:r>
            <a:r>
              <a:rPr lang="en-US" i="1" dirty="0"/>
              <a:t>F</a:t>
            </a:r>
            <a:r>
              <a:rPr lang="en-US" dirty="0"/>
              <a:t>), 4-bit binary counter (</a:t>
            </a:r>
            <a:r>
              <a:rPr lang="en-US" i="1" dirty="0"/>
              <a:t>A</a:t>
            </a:r>
            <a:r>
              <a:rPr lang="en-US" i="1" baseline="-25000" dirty="0"/>
              <a:t>4</a:t>
            </a:r>
            <a:r>
              <a:rPr lang="en-US" i="1" dirty="0"/>
              <a:t>A</a:t>
            </a:r>
            <a:r>
              <a:rPr lang="en-US" i="1" baseline="-25000" dirty="0"/>
              <a:t>3</a:t>
            </a:r>
            <a:r>
              <a:rPr lang="en-US" i="1" dirty="0"/>
              <a:t>A</a:t>
            </a:r>
            <a:r>
              <a:rPr lang="en-US" i="1" baseline="-25000" dirty="0"/>
              <a:t>2</a:t>
            </a:r>
            <a:r>
              <a:rPr lang="en-US" i="1" dirty="0"/>
              <a:t>A</a:t>
            </a:r>
            <a:r>
              <a:rPr lang="en-US" i="1" baseline="-25000" dirty="0"/>
              <a:t>1</a:t>
            </a:r>
            <a:r>
              <a:rPr lang="en-US" dirty="0"/>
              <a:t>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u="sng" dirty="0"/>
              <a:t>Working:</a:t>
            </a:r>
          </a:p>
          <a:p>
            <a:pPr marL="457200" indent="-457200">
              <a:spcBef>
                <a:spcPts val="0"/>
              </a:spcBef>
              <a:spcAft>
                <a:spcPts val="1000"/>
              </a:spcAft>
              <a:buAutoNum type="arabicPeriod"/>
            </a:pPr>
            <a:r>
              <a:rPr lang="en-US" i="1" dirty="0"/>
              <a:t>start </a:t>
            </a:r>
            <a:r>
              <a:rPr lang="en-US" dirty="0"/>
              <a:t>signal </a:t>
            </a:r>
            <a:r>
              <a:rPr lang="en-US" i="1" dirty="0"/>
              <a:t>(S)</a:t>
            </a:r>
            <a:r>
              <a:rPr lang="en-US" dirty="0"/>
              <a:t> initiates the operation by clearing the counter and </a:t>
            </a:r>
            <a:r>
              <a:rPr lang="en-US" i="1" dirty="0"/>
              <a:t>F</a:t>
            </a:r>
          </a:p>
          <a:p>
            <a:pPr marL="457200" indent="-457200">
              <a:spcBef>
                <a:spcPts val="0"/>
              </a:spcBef>
              <a:spcAft>
                <a:spcPts val="1000"/>
              </a:spcAft>
              <a:buAutoNum type="arabicPeriod"/>
            </a:pPr>
            <a:r>
              <a:rPr lang="en-US" dirty="0"/>
              <a:t>Counter increments at each clock pulse until stopped</a:t>
            </a:r>
          </a:p>
          <a:p>
            <a:pPr marL="457200" indent="-457200">
              <a:spcBef>
                <a:spcPts val="0"/>
              </a:spcBef>
              <a:spcAft>
                <a:spcPts val="1000"/>
              </a:spcAft>
              <a:buAutoNum type="arabicPeriod"/>
            </a:pPr>
            <a:r>
              <a:rPr lang="en-US" dirty="0"/>
              <a:t>If </a:t>
            </a:r>
            <a:r>
              <a:rPr lang="en-US" i="1" dirty="0"/>
              <a:t>A</a:t>
            </a:r>
            <a:r>
              <a:rPr lang="en-US" i="1" baseline="-25000" dirty="0"/>
              <a:t>3</a:t>
            </a:r>
            <a:r>
              <a:rPr lang="en-US" i="1" dirty="0"/>
              <a:t> = 0</a:t>
            </a:r>
            <a:r>
              <a:rPr lang="en-US" dirty="0"/>
              <a:t>: </a:t>
            </a:r>
            <a:r>
              <a:rPr lang="en-US" i="1" dirty="0"/>
              <a:t>E</a:t>
            </a:r>
            <a:r>
              <a:rPr lang="en-US" dirty="0"/>
              <a:t> cleared and count continues</a:t>
            </a:r>
          </a:p>
          <a:p>
            <a:pPr marL="457200" indent="-457200">
              <a:spcBef>
                <a:spcPts val="0"/>
              </a:spcBef>
              <a:spcAft>
                <a:spcPts val="1000"/>
              </a:spcAft>
              <a:buAutoNum type="arabicPeriod"/>
            </a:pPr>
            <a:r>
              <a:rPr lang="en-US" dirty="0"/>
              <a:t>If </a:t>
            </a:r>
            <a:r>
              <a:rPr lang="en-US" i="1" dirty="0"/>
              <a:t>A</a:t>
            </a:r>
            <a:r>
              <a:rPr lang="en-US" i="1" baseline="-25000" dirty="0"/>
              <a:t>3</a:t>
            </a:r>
            <a:r>
              <a:rPr lang="en-US" i="1" dirty="0"/>
              <a:t> = 1</a:t>
            </a:r>
            <a:r>
              <a:rPr lang="en-US" dirty="0"/>
              <a:t>: E set to 1 and</a:t>
            </a:r>
          </a:p>
          <a:p>
            <a:pPr marL="857250" lvl="1" indent="-457200">
              <a:spcBef>
                <a:spcPts val="0"/>
              </a:spcBef>
              <a:spcAft>
                <a:spcPts val="1000"/>
              </a:spcAft>
              <a:buAutoNum type="arabicPeriod"/>
            </a:pPr>
            <a:r>
              <a:rPr lang="en-US" sz="2200" dirty="0"/>
              <a:t>If </a:t>
            </a:r>
            <a:r>
              <a:rPr lang="en-US" sz="2200" i="1" dirty="0"/>
              <a:t>A</a:t>
            </a:r>
            <a:r>
              <a:rPr lang="en-US" sz="2200" i="1" baseline="-25000" dirty="0"/>
              <a:t>4</a:t>
            </a:r>
            <a:r>
              <a:rPr lang="en-US" sz="2200" i="1" dirty="0"/>
              <a:t> = 0</a:t>
            </a:r>
            <a:r>
              <a:rPr lang="en-US" sz="2200" dirty="0"/>
              <a:t>: count continues</a:t>
            </a:r>
          </a:p>
          <a:p>
            <a:pPr marL="857250" lvl="1" indent="-457200">
              <a:spcBef>
                <a:spcPts val="0"/>
              </a:spcBef>
              <a:spcAft>
                <a:spcPts val="1000"/>
              </a:spcAft>
              <a:buAutoNum type="arabicPeriod"/>
            </a:pPr>
            <a:r>
              <a:rPr lang="en-US" sz="2200" dirty="0"/>
              <a:t>If </a:t>
            </a:r>
            <a:r>
              <a:rPr lang="en-US" sz="2200" i="1" dirty="0"/>
              <a:t>A</a:t>
            </a:r>
            <a:r>
              <a:rPr lang="en-US" sz="2200" i="1" baseline="-25000" dirty="0"/>
              <a:t>4</a:t>
            </a:r>
            <a:r>
              <a:rPr lang="en-US" sz="2200" i="1" dirty="0"/>
              <a:t> = 1</a:t>
            </a:r>
            <a:r>
              <a:rPr lang="en-US" sz="2200" dirty="0"/>
              <a:t>: </a:t>
            </a:r>
            <a:r>
              <a:rPr lang="en-US" sz="2200" i="1" dirty="0"/>
              <a:t>F</a:t>
            </a:r>
            <a:r>
              <a:rPr lang="en-US" sz="2200" dirty="0"/>
              <a:t> set to 1 and counting stops</a:t>
            </a:r>
          </a:p>
          <a:p>
            <a:pPr marL="457200" indent="-457200">
              <a:spcBef>
                <a:spcPts val="0"/>
              </a:spcBef>
              <a:spcAft>
                <a:spcPts val="1000"/>
              </a:spcAft>
              <a:buAutoNum type="arabicPeriod"/>
            </a:pPr>
            <a:r>
              <a:rPr lang="en-US" dirty="0"/>
              <a:t>If </a:t>
            </a:r>
            <a:r>
              <a:rPr lang="en-US" i="1" dirty="0"/>
              <a:t>S = 0</a:t>
            </a:r>
            <a:r>
              <a:rPr lang="en-US" dirty="0"/>
              <a:t>: system retains state</a:t>
            </a:r>
            <a:br>
              <a:rPr lang="en-US" dirty="0"/>
            </a:br>
            <a:r>
              <a:rPr lang="en-US" dirty="0"/>
              <a:t>If </a:t>
            </a:r>
            <a:r>
              <a:rPr lang="en-US" i="1" dirty="0"/>
              <a:t>S = 1</a:t>
            </a:r>
            <a:r>
              <a:rPr lang="en-US" dirty="0"/>
              <a:t>: operation cycle repeats from the beginning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C7242-B4B8-4616-B093-3FADEE19868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Design example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49E9E4F-713F-4AEE-A395-50B39339F3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51"/>
          <a:stretch/>
        </p:blipFill>
        <p:spPr bwMode="auto">
          <a:xfrm>
            <a:off x="5791202" y="1371600"/>
            <a:ext cx="3047998" cy="5136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3079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AB0E0D-51A5-4C8F-AFB5-A44C1DF9F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7"/>
            <a:ext cx="5334000" cy="452596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 many states do we have?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 many ASM blocks do we have?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3!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Remember: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000" dirty="0"/>
              <a:t>Every block in the ASM chart specifies the operations performed during one common clock pulse.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000" dirty="0"/>
              <a:t>Operations specified within the state and conditional boxes in the block are performed in the </a:t>
            </a:r>
            <a:r>
              <a:rPr lang="en-US" altLang="en-US" sz="2000" dirty="0" err="1"/>
              <a:t>datapath</a:t>
            </a:r>
            <a:r>
              <a:rPr lang="en-US" altLang="en-US" sz="2000" dirty="0"/>
              <a:t> section.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000" dirty="0"/>
              <a:t>The change from one state to next is performed in the control section.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8180C-A50E-41BD-BAE2-219514BE3E2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Design example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3A593DF-F37B-430F-A47C-38F3273DB8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51"/>
          <a:stretch/>
        </p:blipFill>
        <p:spPr bwMode="auto">
          <a:xfrm>
            <a:off x="5791202" y="1371600"/>
            <a:ext cx="3047998" cy="5136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124A95A-6007-4E9B-9C3B-C6439A922FE3}"/>
              </a:ext>
            </a:extLst>
          </p:cNvPr>
          <p:cNvSpPr/>
          <p:nvPr/>
        </p:nvSpPr>
        <p:spPr>
          <a:xfrm>
            <a:off x="6400800" y="1613647"/>
            <a:ext cx="1143000" cy="17839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6C0377-C58D-4D24-B49C-53F4D7FF3186}"/>
              </a:ext>
            </a:extLst>
          </p:cNvPr>
          <p:cNvSpPr/>
          <p:nvPr/>
        </p:nvSpPr>
        <p:spPr>
          <a:xfrm>
            <a:off x="5737412" y="3558988"/>
            <a:ext cx="2720788" cy="22322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B1D4C9-147B-461E-8CD0-BDE6D1EB26AE}"/>
              </a:ext>
            </a:extLst>
          </p:cNvPr>
          <p:cNvSpPr/>
          <p:nvPr/>
        </p:nvSpPr>
        <p:spPr>
          <a:xfrm>
            <a:off x="7315201" y="5943600"/>
            <a:ext cx="1143000" cy="3675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131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5" grpId="0" animBg="1"/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88D0185-56CF-41FF-BBC5-5DD668CA1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7"/>
            <a:ext cx="3048000" cy="4525963"/>
          </a:xfrm>
        </p:spPr>
        <p:txBody>
          <a:bodyPr/>
          <a:lstStyle/>
          <a:p>
            <a:r>
              <a:rPr lang="en-US" dirty="0"/>
              <a:t>Components: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4-bit binary counter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FFs </a:t>
            </a:r>
            <a:r>
              <a:rPr lang="en-US" i="1" dirty="0"/>
              <a:t>E</a:t>
            </a:r>
            <a:r>
              <a:rPr lang="en-US" dirty="0"/>
              <a:t> and </a:t>
            </a:r>
            <a:r>
              <a:rPr lang="en-US" i="1" dirty="0"/>
              <a:t>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Gates</a:t>
            </a:r>
          </a:p>
          <a:p>
            <a:pPr marL="0" indent="0"/>
            <a:endParaRPr lang="en-US" dirty="0"/>
          </a:p>
          <a:p>
            <a:pPr marL="0" indent="0"/>
            <a:r>
              <a:rPr lang="en-US" dirty="0"/>
              <a:t>Inputs: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State (</a:t>
            </a:r>
            <a:r>
              <a:rPr lang="en-US" i="1" dirty="0"/>
              <a:t>T</a:t>
            </a:r>
            <a:r>
              <a:rPr lang="en-US" i="1" baseline="-25000" dirty="0"/>
              <a:t>0</a:t>
            </a:r>
            <a:r>
              <a:rPr lang="en-US" dirty="0"/>
              <a:t>, </a:t>
            </a:r>
            <a:r>
              <a:rPr lang="en-US" i="1" dirty="0"/>
              <a:t>T</a:t>
            </a:r>
            <a:r>
              <a:rPr lang="en-US" i="1" baseline="-25000" dirty="0"/>
              <a:t>1</a:t>
            </a:r>
            <a:r>
              <a:rPr lang="en-US" dirty="0"/>
              <a:t>, </a:t>
            </a:r>
            <a:r>
              <a:rPr lang="en-US" i="1" dirty="0"/>
              <a:t>T</a:t>
            </a:r>
            <a:r>
              <a:rPr lang="en-US" i="1" baseline="-25000" dirty="0"/>
              <a:t>2</a:t>
            </a:r>
            <a:r>
              <a:rPr lang="en-US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Start signal, </a:t>
            </a:r>
            <a:r>
              <a:rPr lang="en-US" i="1" dirty="0"/>
              <a:t>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Clock, </a:t>
            </a:r>
            <a:r>
              <a:rPr lang="en-US" i="1" dirty="0"/>
              <a:t>C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E310AB8-1C80-4ED0-AAA5-1D9AFC2A67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28"/>
          <a:stretch/>
        </p:blipFill>
        <p:spPr bwMode="auto">
          <a:xfrm>
            <a:off x="4058051" y="762000"/>
            <a:ext cx="4781149" cy="563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17DEC-C8B5-4281-A91F-8A246973039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Designing the data path</a:t>
            </a:r>
          </a:p>
        </p:txBody>
      </p:sp>
    </p:spTree>
    <p:extLst>
      <p:ext uri="{BB962C8B-B14F-4D97-AF65-F5344CB8AC3E}">
        <p14:creationId xmlns:p14="http://schemas.microsoft.com/office/powerpoint/2010/main" val="3515604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13114-C4A6-4210-BF9B-74CB212A50A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Designing the control path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06A35B8-ADF8-4B4F-98E3-6689A23B79B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03" r="42593" b="29884"/>
          <a:stretch/>
        </p:blipFill>
        <p:spPr bwMode="auto">
          <a:xfrm>
            <a:off x="4607859" y="1493837"/>
            <a:ext cx="3962400" cy="1426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B126C42-EA40-49B1-85EC-D2158431A4B3}"/>
              </a:ext>
            </a:extLst>
          </p:cNvPr>
          <p:cNvSpPr txBox="1">
            <a:spLocks/>
          </p:cNvSpPr>
          <p:nvPr/>
        </p:nvSpPr>
        <p:spPr bwMode="auto">
          <a:xfrm>
            <a:off x="304800" y="1493837"/>
            <a:ext cx="41910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 many FFs for control circuit (CC)?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3 states =&gt; 2 FFs! G</a:t>
            </a:r>
            <a:r>
              <a:rPr lang="en-US" baseline="-25000" dirty="0"/>
              <a:t>1</a:t>
            </a:r>
            <a:r>
              <a:rPr lang="en-US" dirty="0"/>
              <a:t> and G</a:t>
            </a:r>
            <a:r>
              <a:rPr lang="en-US" baseline="-25000" dirty="0"/>
              <a:t>0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are the outputs of CC?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</a:t>
            </a:r>
            <a:r>
              <a:rPr lang="en-US" baseline="-25000" dirty="0"/>
              <a:t>0</a:t>
            </a:r>
            <a:r>
              <a:rPr lang="en-US" dirty="0"/>
              <a:t>, T</a:t>
            </a:r>
            <a:r>
              <a:rPr lang="en-US" baseline="-25000" dirty="0"/>
              <a:t>1</a:t>
            </a:r>
            <a:r>
              <a:rPr lang="en-US" dirty="0"/>
              <a:t>, T</a:t>
            </a:r>
            <a:r>
              <a:rPr lang="en-US" baseline="-25000" dirty="0"/>
              <a:t>2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are the inputs to the control circuit?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S, A</a:t>
            </a:r>
            <a:r>
              <a:rPr lang="en-US" baseline="-25000" dirty="0"/>
              <a:t>3</a:t>
            </a:r>
            <a:r>
              <a:rPr lang="en-US" dirty="0"/>
              <a:t>, A</a:t>
            </a:r>
            <a:r>
              <a:rPr lang="en-US" baseline="-25000" dirty="0"/>
              <a:t>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111072-27C1-4033-BEB6-1BD139412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8177" y="3118522"/>
            <a:ext cx="3881388" cy="3270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379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7773F88-DAC3-43F3-B5D8-D63157221B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6039071"/>
              </p:ext>
            </p:extLst>
          </p:nvPr>
        </p:nvGraphicFramePr>
        <p:xfrm>
          <a:off x="304800" y="1493838"/>
          <a:ext cx="8153398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218">
                  <a:extLst>
                    <a:ext uri="{9D8B030D-6E8A-4147-A177-3AD203B41FA5}">
                      <a16:colId xmlns:a16="http://schemas.microsoft.com/office/drawing/2014/main" val="408140083"/>
                    </a:ext>
                  </a:extLst>
                </a:gridCol>
                <a:gridCol w="741218">
                  <a:extLst>
                    <a:ext uri="{9D8B030D-6E8A-4147-A177-3AD203B41FA5}">
                      <a16:colId xmlns:a16="http://schemas.microsoft.com/office/drawing/2014/main" val="163166700"/>
                    </a:ext>
                  </a:extLst>
                </a:gridCol>
                <a:gridCol w="741218">
                  <a:extLst>
                    <a:ext uri="{9D8B030D-6E8A-4147-A177-3AD203B41FA5}">
                      <a16:colId xmlns:a16="http://schemas.microsoft.com/office/drawing/2014/main" val="1848673016"/>
                    </a:ext>
                  </a:extLst>
                </a:gridCol>
                <a:gridCol w="741218">
                  <a:extLst>
                    <a:ext uri="{9D8B030D-6E8A-4147-A177-3AD203B41FA5}">
                      <a16:colId xmlns:a16="http://schemas.microsoft.com/office/drawing/2014/main" val="653344348"/>
                    </a:ext>
                  </a:extLst>
                </a:gridCol>
                <a:gridCol w="741218">
                  <a:extLst>
                    <a:ext uri="{9D8B030D-6E8A-4147-A177-3AD203B41FA5}">
                      <a16:colId xmlns:a16="http://schemas.microsoft.com/office/drawing/2014/main" val="365632172"/>
                    </a:ext>
                  </a:extLst>
                </a:gridCol>
                <a:gridCol w="741218">
                  <a:extLst>
                    <a:ext uri="{9D8B030D-6E8A-4147-A177-3AD203B41FA5}">
                      <a16:colId xmlns:a16="http://schemas.microsoft.com/office/drawing/2014/main" val="806904851"/>
                    </a:ext>
                  </a:extLst>
                </a:gridCol>
                <a:gridCol w="741218">
                  <a:extLst>
                    <a:ext uri="{9D8B030D-6E8A-4147-A177-3AD203B41FA5}">
                      <a16:colId xmlns:a16="http://schemas.microsoft.com/office/drawing/2014/main" val="497812016"/>
                    </a:ext>
                  </a:extLst>
                </a:gridCol>
                <a:gridCol w="741218">
                  <a:extLst>
                    <a:ext uri="{9D8B030D-6E8A-4147-A177-3AD203B41FA5}">
                      <a16:colId xmlns:a16="http://schemas.microsoft.com/office/drawing/2014/main" val="52294240"/>
                    </a:ext>
                  </a:extLst>
                </a:gridCol>
                <a:gridCol w="741218">
                  <a:extLst>
                    <a:ext uri="{9D8B030D-6E8A-4147-A177-3AD203B41FA5}">
                      <a16:colId xmlns:a16="http://schemas.microsoft.com/office/drawing/2014/main" val="2460859006"/>
                    </a:ext>
                  </a:extLst>
                </a:gridCol>
                <a:gridCol w="741218">
                  <a:extLst>
                    <a:ext uri="{9D8B030D-6E8A-4147-A177-3AD203B41FA5}">
                      <a16:colId xmlns:a16="http://schemas.microsoft.com/office/drawing/2014/main" val="826942030"/>
                    </a:ext>
                  </a:extLst>
                </a:gridCol>
                <a:gridCol w="741218">
                  <a:extLst>
                    <a:ext uri="{9D8B030D-6E8A-4147-A177-3AD203B41FA5}">
                      <a16:colId xmlns:a16="http://schemas.microsoft.com/office/drawing/2014/main" val="790116068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Present state</a:t>
                      </a: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Inputs</a:t>
                      </a: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Next state</a:t>
                      </a: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Outputs</a:t>
                      </a: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5384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Name</a:t>
                      </a: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G</a:t>
                      </a:r>
                      <a:r>
                        <a:rPr lang="en-US" baseline="-25000" dirty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G</a:t>
                      </a:r>
                      <a:r>
                        <a:rPr lang="en-US" baseline="-25000" dirty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S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A</a:t>
                      </a:r>
                      <a:r>
                        <a:rPr lang="en-US" baseline="-25000" dirty="0">
                          <a:solidFill>
                            <a:schemeClr val="bg2"/>
                          </a:solidFill>
                        </a:rPr>
                        <a:t>3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A</a:t>
                      </a:r>
                      <a:r>
                        <a:rPr lang="en-US" baseline="-25000" dirty="0">
                          <a:solidFill>
                            <a:schemeClr val="bg2"/>
                          </a:solidFill>
                        </a:rPr>
                        <a:t>4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G</a:t>
                      </a:r>
                      <a:r>
                        <a:rPr lang="en-US" baseline="-25000" dirty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G</a:t>
                      </a:r>
                      <a:r>
                        <a:rPr lang="en-US" baseline="-25000" dirty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T</a:t>
                      </a:r>
                      <a:r>
                        <a:rPr lang="en-US" baseline="-25000" dirty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T</a:t>
                      </a:r>
                      <a:r>
                        <a:rPr lang="en-US" baseline="-25000" dirty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T</a:t>
                      </a:r>
                      <a:r>
                        <a:rPr lang="en-US" baseline="-25000" dirty="0">
                          <a:solidFill>
                            <a:schemeClr val="bg2"/>
                          </a:solidFill>
                        </a:rPr>
                        <a:t>2</a:t>
                      </a:r>
                    </a:p>
                  </a:txBody>
                  <a:tcPr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917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  <a:r>
                        <a:rPr lang="en-US" b="1" baseline="-25000" dirty="0"/>
                        <a:t>0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46719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  <a:r>
                        <a:rPr lang="en-US" b="1" baseline="-25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5943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  <a:r>
                        <a:rPr lang="en-US" b="1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031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  <a:r>
                        <a:rPr lang="en-US" b="1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8851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  <a:r>
                        <a:rPr lang="en-US" b="1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3821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  <a:r>
                        <a:rPr lang="en-US" b="1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5105054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8A6EB-515D-4BF3-B775-48FBBAD803F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Building the state table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F50BE97A-FDFA-4515-B3FB-286D0D8DB55B}"/>
              </a:ext>
            </a:extLst>
          </p:cNvPr>
          <p:cNvSpPr txBox="1">
            <a:spLocks/>
          </p:cNvSpPr>
          <p:nvPr/>
        </p:nvSpPr>
        <p:spPr bwMode="auto">
          <a:xfrm>
            <a:off x="304800" y="4648200"/>
            <a:ext cx="2895600" cy="1360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dirty="0"/>
              <a:t>Design using D FFs:</a:t>
            </a:r>
          </a:p>
          <a:p>
            <a:pPr marL="0" indent="0"/>
            <a:r>
              <a:rPr lang="en-US" dirty="0"/>
              <a:t>DG</a:t>
            </a:r>
            <a:r>
              <a:rPr lang="en-US" baseline="-25000" dirty="0"/>
              <a:t>0</a:t>
            </a:r>
            <a:r>
              <a:rPr lang="en-US" dirty="0"/>
              <a:t>: T</a:t>
            </a:r>
            <a:r>
              <a:rPr lang="en-US" baseline="-25000" dirty="0"/>
              <a:t>0</a:t>
            </a:r>
            <a:r>
              <a:rPr lang="en-US" dirty="0"/>
              <a:t>S+T</a:t>
            </a:r>
            <a:r>
              <a:rPr lang="en-US" baseline="-25000" dirty="0"/>
              <a:t>1</a:t>
            </a:r>
          </a:p>
          <a:p>
            <a:pPr marL="0" indent="0"/>
            <a:r>
              <a:rPr lang="en-US" dirty="0"/>
              <a:t>DG</a:t>
            </a:r>
            <a:r>
              <a:rPr lang="en-US" baseline="-25000" dirty="0"/>
              <a:t>1</a:t>
            </a:r>
            <a:r>
              <a:rPr lang="en-US" dirty="0"/>
              <a:t>: T</a:t>
            </a:r>
            <a:r>
              <a:rPr lang="en-US" baseline="-25000" dirty="0"/>
              <a:t>1</a:t>
            </a:r>
            <a:r>
              <a:rPr lang="en-US" dirty="0"/>
              <a:t>A</a:t>
            </a:r>
            <a:r>
              <a:rPr lang="en-US" baseline="-25000" dirty="0"/>
              <a:t>3</a:t>
            </a:r>
            <a:r>
              <a:rPr lang="en-US" dirty="0"/>
              <a:t>A</a:t>
            </a:r>
            <a:r>
              <a:rPr lang="en-US" baseline="-25000" dirty="0"/>
              <a:t>4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DBD34984-8C1D-434D-BF3A-4D18B199E7C4}"/>
              </a:ext>
            </a:extLst>
          </p:cNvPr>
          <p:cNvSpPr txBox="1">
            <a:spLocks/>
          </p:cNvSpPr>
          <p:nvPr/>
        </p:nvSpPr>
        <p:spPr bwMode="auto">
          <a:xfrm>
            <a:off x="3467100" y="4648200"/>
            <a:ext cx="2895600" cy="1360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dirty="0"/>
              <a:t>Outputs:</a:t>
            </a:r>
          </a:p>
          <a:p>
            <a:pPr marL="0" indent="0"/>
            <a:r>
              <a:rPr lang="en-US" dirty="0"/>
              <a:t>T</a:t>
            </a:r>
            <a:r>
              <a:rPr lang="en-US" baseline="-25000" dirty="0"/>
              <a:t>0</a:t>
            </a:r>
            <a:r>
              <a:rPr lang="en-US" dirty="0"/>
              <a:t>: G</a:t>
            </a:r>
            <a:r>
              <a:rPr lang="en-US" baseline="-25000" dirty="0"/>
              <a:t>0</a:t>
            </a:r>
            <a:r>
              <a:rPr lang="en-US" dirty="0"/>
              <a:t>’</a:t>
            </a:r>
          </a:p>
          <a:p>
            <a:pPr marL="0" indent="0"/>
            <a:r>
              <a:rPr lang="en-US" dirty="0"/>
              <a:t>T</a:t>
            </a:r>
            <a:r>
              <a:rPr lang="en-US" baseline="-25000" dirty="0"/>
              <a:t>1</a:t>
            </a:r>
            <a:r>
              <a:rPr lang="en-US" dirty="0"/>
              <a:t>: G</a:t>
            </a:r>
            <a:r>
              <a:rPr lang="en-US" baseline="-25000" dirty="0"/>
              <a:t>1</a:t>
            </a:r>
            <a:r>
              <a:rPr lang="en-US" dirty="0"/>
              <a:t>’G</a:t>
            </a:r>
            <a:r>
              <a:rPr lang="en-US" baseline="-25000" dirty="0"/>
              <a:t>0</a:t>
            </a:r>
          </a:p>
          <a:p>
            <a:pPr marL="0" indent="0"/>
            <a:r>
              <a:rPr lang="en-US" dirty="0"/>
              <a:t>T</a:t>
            </a:r>
            <a:r>
              <a:rPr lang="en-US" baseline="-25000" dirty="0"/>
              <a:t>2</a:t>
            </a:r>
            <a:r>
              <a:rPr lang="en-US" dirty="0"/>
              <a:t>: G</a:t>
            </a:r>
            <a:r>
              <a:rPr lang="en-US" baseline="-25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79189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DD282-B041-4E7A-BCBC-0C82CCE21D0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Control circuit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7350A3A-32BC-411E-BA37-65A8B81205C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34"/>
          <a:stretch/>
        </p:blipFill>
        <p:spPr bwMode="auto">
          <a:xfrm>
            <a:off x="291353" y="1524000"/>
            <a:ext cx="3823651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147CE441-BA96-482E-98E7-5E19B9CE6D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28"/>
          <a:stretch/>
        </p:blipFill>
        <p:spPr bwMode="auto">
          <a:xfrm>
            <a:off x="4058051" y="762000"/>
            <a:ext cx="4781149" cy="563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280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pptA48A.tmp</Template>
  <TotalTime>15876</TotalTime>
  <Words>983</Words>
  <Application>Microsoft Office PowerPoint</Application>
  <PresentationFormat>On-screen Show (4:3)</PresentationFormat>
  <Paragraphs>213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BITS Pilani  Digital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bits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Systems</dc:title>
  <dc:creator>a</dc:creator>
  <cp:lastModifiedBy>Saurabh Gandhi</cp:lastModifiedBy>
  <cp:revision>634</cp:revision>
  <dcterms:created xsi:type="dcterms:W3CDTF">2010-01-15T20:22:21Z</dcterms:created>
  <dcterms:modified xsi:type="dcterms:W3CDTF">2025-11-06T08:49:25Z</dcterms:modified>
</cp:coreProperties>
</file>