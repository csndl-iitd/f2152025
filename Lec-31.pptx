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337" r:id="rId2"/>
    <p:sldId id="433" r:id="rId3"/>
    <p:sldId id="434" r:id="rId4"/>
    <p:sldId id="423" r:id="rId5"/>
    <p:sldId id="425" r:id="rId6"/>
    <p:sldId id="429" r:id="rId7"/>
    <p:sldId id="424" r:id="rId8"/>
    <p:sldId id="426" r:id="rId9"/>
    <p:sldId id="427" r:id="rId10"/>
    <p:sldId id="428" r:id="rId11"/>
    <p:sldId id="430" r:id="rId12"/>
    <p:sldId id="431" r:id="rId13"/>
    <p:sldId id="432" r:id="rId14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3578" autoAdjust="0"/>
  </p:normalViewPr>
  <p:slideViewPr>
    <p:cSldViewPr>
      <p:cViewPr varScale="1">
        <p:scale>
          <a:sx n="85" d="100"/>
          <a:sy n="85" d="100"/>
        </p:scale>
        <p:origin x="768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10/31/2025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9DAF1-3678-81CF-68D0-2FFF8BF1C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09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14762E-50A2-3FD2-FDF4-C54B9B6A93B8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A2326C-C066-820B-DC72-5D515C273E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2A3138-AE69-F27D-2EAA-23D2B3BFFE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772D5-DBDE-E801-75E8-5C65995AF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069C2E-6178-3D9A-0D54-C41412046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89347512-759C-4E18-9ECE-7FCE1DFA935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229025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3F7038-E9FE-3435-A99B-628D46289EF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276600" y="6596063"/>
            <a:ext cx="5867400" cy="261937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en-US" sz="1100" b="1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sz="1100">
                <a:solidFill>
                  <a:srgbClr val="101141"/>
                </a:solidFill>
                <a:cs typeface="Arial" charset="0"/>
              </a:rPr>
              <a:t>Pilani, Pilani Campus</a:t>
            </a:r>
          </a:p>
        </p:txBody>
      </p:sp>
      <p:grpSp>
        <p:nvGrpSpPr>
          <p:cNvPr id="4" name="Group 11">
            <a:extLst>
              <a:ext uri="{FF2B5EF4-FFF2-40B4-BE49-F238E27FC236}">
                <a16:creationId xmlns:a16="http://schemas.microsoft.com/office/drawing/2014/main" id="{C581210D-00F8-03F9-A285-0EF404A95B28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084388" y="6550025"/>
            <a:ext cx="7059612" cy="49213"/>
            <a:chOff x="2083888" y="6550671"/>
            <a:chExt cx="7060112" cy="4866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981720D-E387-AAA5-1040-9B41570959D0}"/>
                </a:ext>
              </a:extLst>
            </p:cNvPr>
            <p:cNvSpPr/>
            <p:nvPr/>
          </p:nvSpPr>
          <p:spPr>
            <a:xfrm>
              <a:off x="4630418" y="6550671"/>
              <a:ext cx="2329027" cy="48665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1E86A8-1855-7B69-B62C-6E258FDAA754}"/>
                </a:ext>
              </a:extLst>
            </p:cNvPr>
            <p:cNvSpPr/>
            <p:nvPr/>
          </p:nvSpPr>
          <p:spPr>
            <a:xfrm>
              <a:off x="6908642" y="6550671"/>
              <a:ext cx="2235358" cy="45525"/>
            </a:xfrm>
            <a:prstGeom prst="rect">
              <a:avLst/>
            </a:prstGeom>
            <a:solidFill>
              <a:srgbClr val="E31C2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0F5A7EC-8365-09AA-A08B-63472C98828A}"/>
                </a:ext>
              </a:extLst>
            </p:cNvPr>
            <p:cNvSpPr/>
            <p:nvPr/>
          </p:nvSpPr>
          <p:spPr>
            <a:xfrm>
              <a:off x="2083888" y="6550671"/>
              <a:ext cx="2581458" cy="48665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pic>
        <p:nvPicPr>
          <p:cNvPr id="8" name="Picture 11" descr="Picture 7.png">
            <a:extLst>
              <a:ext uri="{FF2B5EF4-FFF2-40B4-BE49-F238E27FC236}">
                <a16:creationId xmlns:a16="http://schemas.microsoft.com/office/drawing/2014/main" id="{055BCDEA-2A80-3C2D-080C-509BDDC90C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Group 18">
            <a:extLst>
              <a:ext uri="{FF2B5EF4-FFF2-40B4-BE49-F238E27FC236}">
                <a16:creationId xmlns:a16="http://schemas.microsoft.com/office/drawing/2014/main" id="{4FE31975-C8A2-731C-B1AA-CCD2DCF57F50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57A10F7-F50B-DAEB-B974-D1288E571504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AECCB2B-C7CF-4843-D0DF-2886453D18BC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7A3C326-F746-6ED4-B21E-4BB970D1C982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3" name="Group 22">
            <a:extLst>
              <a:ext uri="{FF2B5EF4-FFF2-40B4-BE49-F238E27FC236}">
                <a16:creationId xmlns:a16="http://schemas.microsoft.com/office/drawing/2014/main" id="{09821B34-ED59-A848-42D8-7954EFE84254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DD3EB44-1837-0D6E-CE9B-DBC9F8518DD2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4180C74-B502-6526-25D1-FD5B018B28F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1EECA1A-60B6-C307-32D5-77B6F2589D37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493837"/>
            <a:ext cx="8229600" cy="4525963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None/>
              <a:tabLst/>
              <a:defRPr sz="2400">
                <a:latin typeface="+mn-lt"/>
                <a:cs typeface="Arial" pitchFamily="34" charset="0"/>
              </a:defRPr>
            </a:lvl1pPr>
            <a:lvl2pPr marL="742950" marR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 sz="1600">
                <a:latin typeface="+mn-lt"/>
                <a:cs typeface="Arial" pitchFamily="34" charset="0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  <a:endParaRPr lang="en-US" dirty="0"/>
          </a:p>
        </p:txBody>
      </p:sp>
      <p:sp>
        <p:nvSpPr>
          <p:cNvPr id="27" name="Content Placeholder 18"/>
          <p:cNvSpPr>
            <a:spLocks noGrp="1"/>
          </p:cNvSpPr>
          <p:nvPr>
            <p:ph sz="quarter" idx="10"/>
          </p:nvPr>
        </p:nvSpPr>
        <p:spPr>
          <a:xfrm>
            <a:off x="304800" y="152400"/>
            <a:ext cx="6324600" cy="1143000"/>
          </a:xfrm>
        </p:spPr>
        <p:txBody>
          <a:bodyPr anchor="ctr">
            <a:normAutofit/>
          </a:bodyPr>
          <a:lstStyle>
            <a:lvl1pPr marL="0">
              <a:lnSpc>
                <a:spcPts val="3600"/>
              </a:lnSpc>
              <a:spcBef>
                <a:spcPts val="0"/>
              </a:spcBef>
              <a:buNone/>
              <a:defRPr sz="3600" b="1" spc="-15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6525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  <p:sldLayoutId id="2147484861" r:id="rId13"/>
    <p:sldLayoutId id="2147484862" r:id="rId14"/>
  </p:sldLayoutIdLst>
  <p:hf hdr="0" ft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BITS </a:t>
            </a:r>
            <a:r>
              <a:rPr lang="en-US" altLang="en-US" dirty="0" err="1"/>
              <a:t>Pilani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/>
              <a:t>Digital Design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Prof. GSS </a:t>
            </a:r>
            <a:r>
              <a:rPr lang="en-US" dirty="0" err="1"/>
              <a:t>Chalapathi</a:t>
            </a:r>
            <a:r>
              <a:rPr lang="en-US" dirty="0"/>
              <a:t>, 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F91B43-1ADA-45E1-996A-8E7DA3CF04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493837"/>
            <a:ext cx="8534400" cy="4906963"/>
          </a:xfrm>
        </p:spPr>
        <p:txBody>
          <a:bodyPr/>
          <a:lstStyle/>
          <a:p>
            <a:r>
              <a:rPr lang="en-US" sz="3200" dirty="0"/>
              <a:t>Digital Design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Representing numbers with 1s and 0s (Boolean representations)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Manipulating Boolean representations (Boolean algebra)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Ways to simplify expressions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Implementing with logic gates (combinational logic)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Adding memory (sequential logic): analysis and synthesis</a:t>
            </a:r>
          </a:p>
          <a:p>
            <a:pPr>
              <a:buFont typeface="Wingdings" panose="05000000000000000000" pitchFamily="2" charset="2"/>
              <a:buChar char="à"/>
            </a:pPr>
            <a:endParaRPr lang="en-US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How do we build gates?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000" dirty="0">
                <a:sym typeface="Wingdings" panose="05000000000000000000" pitchFamily="2" charset="2"/>
              </a:rPr>
              <a:t>Transistor-Transistor Logic (TTL): Uses BJTs to build logic gates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000" dirty="0">
                <a:solidFill>
                  <a:srgbClr val="00B050"/>
                </a:solidFill>
              </a:rPr>
              <a:t>MOS based transistors (NMOS, CMOS, Transfer Gates): Today!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99031-FD1E-4B18-9606-1B134D2ECB4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Where we are</a:t>
            </a:r>
          </a:p>
        </p:txBody>
      </p:sp>
    </p:spTree>
    <p:extLst>
      <p:ext uri="{BB962C8B-B14F-4D97-AF65-F5344CB8AC3E}">
        <p14:creationId xmlns:p14="http://schemas.microsoft.com/office/powerpoint/2010/main" val="917464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CEDEAA-EE2F-49EA-8A4F-5647E5CAAA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Metal Oxide Semiconductor Field Effect Transistors (MOSFETs)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4B15632-07AB-4E71-8011-F3E814C047D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50509"/>
          <a:stretch/>
        </p:blipFill>
        <p:spPr bwMode="auto">
          <a:xfrm>
            <a:off x="671391" y="1493838"/>
            <a:ext cx="3748209" cy="2239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5F0F5484-71C0-4663-9387-A8F94E2CD5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2" b="50509"/>
          <a:stretch/>
        </p:blipFill>
        <p:spPr bwMode="auto">
          <a:xfrm>
            <a:off x="671390" y="1493838"/>
            <a:ext cx="7482010" cy="2239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4421AC86-978F-4E1B-9DEE-B24B5D9A27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999"/>
          <a:stretch/>
        </p:blipFill>
        <p:spPr bwMode="auto">
          <a:xfrm>
            <a:off x="671389" y="1493838"/>
            <a:ext cx="3748211" cy="452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BEA742EC-D2BF-44B8-8631-FA4E572F3A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190"/>
          <a:stretch/>
        </p:blipFill>
        <p:spPr bwMode="auto">
          <a:xfrm>
            <a:off x="671389" y="1493838"/>
            <a:ext cx="7482010" cy="452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00840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11615-530D-4854-A751-8D6F426FC6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PMOS and NMOS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96764CC-7F47-44D1-8359-90988DBCBBE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39" b="11832"/>
          <a:stretch/>
        </p:blipFill>
        <p:spPr bwMode="auto">
          <a:xfrm>
            <a:off x="2247900" y="1600200"/>
            <a:ext cx="2247900" cy="205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88E058CC-98D3-4F16-B8D1-CBC67076EF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042"/>
          <a:stretch/>
        </p:blipFill>
        <p:spPr bwMode="auto">
          <a:xfrm>
            <a:off x="458787" y="4153693"/>
            <a:ext cx="8226425" cy="1942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E21CF735-64FD-43DD-B1C7-16DC7E9A7F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98" b="11832"/>
          <a:stretch/>
        </p:blipFill>
        <p:spPr bwMode="auto">
          <a:xfrm>
            <a:off x="2243418" y="1600200"/>
            <a:ext cx="4652682" cy="205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49031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C3C26-4DA1-4F5C-A73F-EC5441B30A0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MOS Gates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B29E29BC-0634-4196-BB84-1C589C52E4E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968" r="38732" b="42091"/>
          <a:stretch/>
        </p:blipFill>
        <p:spPr bwMode="auto">
          <a:xfrm>
            <a:off x="3200400" y="1493838"/>
            <a:ext cx="1905000" cy="2620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51D4770D-3C6C-43F5-BBB7-A2EEF1532E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9" r="68779" b="5051"/>
          <a:stretch/>
        </p:blipFill>
        <p:spPr bwMode="auto">
          <a:xfrm>
            <a:off x="1371600" y="1493838"/>
            <a:ext cx="1905000" cy="429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39EA7CB-2BB6-4AFF-8CBF-ECF88FB88F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80" r="-337" b="5051"/>
          <a:stretch/>
        </p:blipFill>
        <p:spPr bwMode="auto">
          <a:xfrm>
            <a:off x="1371600" y="1493838"/>
            <a:ext cx="6111688" cy="429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C6BC967-2661-4049-A15F-4A847B9DDC97}"/>
              </a:ext>
            </a:extLst>
          </p:cNvPr>
          <p:cNvSpPr txBox="1"/>
          <p:nvPr/>
        </p:nvSpPr>
        <p:spPr>
          <a:xfrm>
            <a:off x="4434168" y="1600200"/>
            <a:ext cx="45574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Why does this work when A = 5V?</a:t>
            </a:r>
          </a:p>
          <a:p>
            <a:endParaRPr lang="en-US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MOS also has some resistance; R</a:t>
            </a:r>
            <a:r>
              <a:rPr lang="en-US" baseline="-25000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1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&gt;R</a:t>
            </a:r>
            <a:r>
              <a:rPr lang="en-US" baseline="-25000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endParaRPr lang="en-US" baseline="-25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9576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BC59F1-869A-47E8-BF0C-275E3201F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493837"/>
            <a:ext cx="4038600" cy="4906963"/>
          </a:xfrm>
        </p:spPr>
        <p:txBody>
          <a:bodyPr>
            <a:normAutofit fontScale="85000"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Bipolar transistors control a current (</a:t>
            </a:r>
            <a:r>
              <a:rPr lang="en-US" i="1" dirty="0"/>
              <a:t>I</a:t>
            </a:r>
            <a:r>
              <a:rPr lang="en-US" i="1" baseline="-25000" dirty="0"/>
              <a:t>C</a:t>
            </a:r>
            <a:r>
              <a:rPr lang="en-US" dirty="0"/>
              <a:t>) by changing another current </a:t>
            </a:r>
            <a:r>
              <a:rPr lang="en-US" i="1" dirty="0"/>
              <a:t>(I</a:t>
            </a:r>
            <a:r>
              <a:rPr lang="en-US" i="1" baseline="-25000" dirty="0"/>
              <a:t>B</a:t>
            </a:r>
            <a:r>
              <a:rPr lang="en-US" dirty="0"/>
              <a:t>)</a:t>
            </a:r>
            <a:endParaRPr lang="en-US" i="1" baseline="-25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Complex design involving multiple transistors, resistors and diodes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High power consumption since continuous current flows</a:t>
            </a:r>
            <a:br>
              <a:rPr lang="en-US" dirty="0"/>
            </a:br>
            <a:r>
              <a:rPr lang="en-US" dirty="0"/>
              <a:t>…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Lower density on chips since each gate requires more components and thus more space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More susceptible to electrical noise</a:t>
            </a:r>
            <a:br>
              <a:rPr lang="en-US" dirty="0"/>
            </a:br>
            <a:r>
              <a:rPr lang="en-US" dirty="0"/>
              <a:t>…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Very tight voltage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A2227-98FC-43F4-B475-8383D8C2F30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Current controlled vs voltage controlled devices</a:t>
            </a:r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8B9B3040-D740-4A13-994E-3369BA6B24F3}"/>
              </a:ext>
            </a:extLst>
          </p:cNvPr>
          <p:cNvSpPr txBox="1">
            <a:spLocks/>
          </p:cNvSpPr>
          <p:nvPr/>
        </p:nvSpPr>
        <p:spPr bwMode="auto">
          <a:xfrm>
            <a:off x="4800602" y="1493836"/>
            <a:ext cx="4038600" cy="4906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101141"/>
              </a:buClr>
              <a:buSzTx/>
              <a:buFont typeface="Arial" pitchFamily="34" charset="0"/>
              <a:buNone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1pPr>
            <a:lvl2pPr marL="742950" marR="0" indent="-28575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itchFamily="34" charset="0"/>
              <a:buChar char="•"/>
            </a:pPr>
            <a:r>
              <a:rPr lang="en-US" sz="2000" dirty="0"/>
              <a:t>MOSFETs control a current by changing the applied voltage</a:t>
            </a:r>
            <a:br>
              <a:rPr lang="en-US" sz="2000" dirty="0"/>
            </a:br>
            <a:r>
              <a:rPr lang="en-US" sz="2000" dirty="0"/>
              <a:t>…</a:t>
            </a:r>
            <a:endParaRPr lang="en-US" sz="2000" i="1" baseline="-25000" dirty="0"/>
          </a:p>
          <a:p>
            <a:pPr>
              <a:buFont typeface="Arial" pitchFamily="34" charset="0"/>
              <a:buChar char="•"/>
            </a:pPr>
            <a:r>
              <a:rPr lang="en-US" sz="2000" dirty="0"/>
              <a:t>Very simple structure</a:t>
            </a:r>
            <a:br>
              <a:rPr lang="en-US" sz="2000" dirty="0"/>
            </a:br>
            <a:r>
              <a:rPr lang="en-US" sz="2000" dirty="0"/>
              <a:t>…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/>
              <a:t>Very low, since one transistor is always off, so no current path from </a:t>
            </a:r>
            <a:r>
              <a:rPr lang="en-US" sz="2000" dirty="0" err="1"/>
              <a:t>V</a:t>
            </a:r>
            <a:r>
              <a:rPr lang="en-US" sz="2000" baseline="-25000" dirty="0" err="1"/>
              <a:t>cc</a:t>
            </a:r>
            <a:r>
              <a:rPr lang="en-US" sz="2000" dirty="0"/>
              <a:t> to ground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/>
              <a:t>Each device is small, so can accommodate more devices in the same space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/>
              <a:t>More tolerant to electrical noise due to a sharp switching threshold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/>
              <a:t>Large operating voltages</a:t>
            </a:r>
          </a:p>
        </p:txBody>
      </p:sp>
    </p:spTree>
    <p:extLst>
      <p:ext uri="{BB962C8B-B14F-4D97-AF65-F5344CB8AC3E}">
        <p14:creationId xmlns:p14="http://schemas.microsoft.com/office/powerpoint/2010/main" val="3772294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97713-01B1-4DE1-AC29-C3C7B2DF05C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Complementary MOS (CMOS)</a:t>
            </a:r>
          </a:p>
        </p:txBody>
      </p:sp>
      <p:pic>
        <p:nvPicPr>
          <p:cNvPr id="1026" name="Picture 2" descr="What is a CMOS Logic IC? | Toshiba Electronic Devices &amp; Storage Corporation  | Asia-English">
            <a:extLst>
              <a:ext uri="{FF2B5EF4-FFF2-40B4-BE49-F238E27FC236}">
                <a16:creationId xmlns:a16="http://schemas.microsoft.com/office/drawing/2014/main" id="{CA6DE6CF-1F67-414D-95F6-048A5DBAACC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870" y="1645467"/>
            <a:ext cx="7939459" cy="4222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8011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86ED5-B77A-4949-9FDA-2D5A1F0A723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CMOS schematics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9B1B723-8E6B-466A-8329-8306305B8A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150" y="1493838"/>
            <a:ext cx="8164899" cy="4525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1764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57547-B06A-4DE9-B00C-97DD450A6CC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CMOS gates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D5621DD-C8DA-409B-9E12-5B713BFAC50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26" r="39013" b="57243"/>
          <a:stretch/>
        </p:blipFill>
        <p:spPr bwMode="auto">
          <a:xfrm>
            <a:off x="3048000" y="1493838"/>
            <a:ext cx="2057400" cy="1935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A0BD4A07-4004-44FE-BCEC-F05606A79C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52442" b="5049"/>
          <a:stretch/>
        </p:blipFill>
        <p:spPr bwMode="auto">
          <a:xfrm>
            <a:off x="1298531" y="1493838"/>
            <a:ext cx="2968669" cy="4297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E4AC51C3-1685-4063-8BEB-A607424B4E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290" b="5049"/>
          <a:stretch/>
        </p:blipFill>
        <p:spPr bwMode="auto">
          <a:xfrm>
            <a:off x="1298530" y="2819400"/>
            <a:ext cx="6242138" cy="297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10127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93EA72-03C6-495B-9DED-F8BC9DB4D93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Transmission gates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CE3C1035-5EAC-4AA6-9CBD-1328DA5821D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18"/>
          <a:stretch/>
        </p:blipFill>
        <p:spPr bwMode="auto">
          <a:xfrm>
            <a:off x="90142" y="1371600"/>
            <a:ext cx="6918671" cy="509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C9EC30F2-6FD5-41B1-95BF-FFEB1AF35A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4545" y="4583906"/>
            <a:ext cx="2798363" cy="1804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45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62F8E-C398-456B-AEAB-F0452DA6A58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does this circuit do?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AC69B161-46D9-4295-9FB1-5844078A75A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4" b="8418"/>
          <a:stretch/>
        </p:blipFill>
        <p:spPr bwMode="auto">
          <a:xfrm>
            <a:off x="333967" y="1493838"/>
            <a:ext cx="5152434" cy="4144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406833E8-3F51-4408-9A63-025DB7FBF7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358" b="8418"/>
          <a:stretch/>
        </p:blipFill>
        <p:spPr bwMode="auto">
          <a:xfrm>
            <a:off x="333966" y="1493838"/>
            <a:ext cx="8200433" cy="4144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1CAD5C-AD3C-450D-BFB6-210DE8616482}"/>
              </a:ext>
            </a:extLst>
          </p:cNvPr>
          <p:cNvSpPr txBox="1"/>
          <p:nvPr/>
        </p:nvSpPr>
        <p:spPr>
          <a:xfrm>
            <a:off x="6844189" y="4419600"/>
            <a:ext cx="11268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EX-OR!</a:t>
            </a:r>
          </a:p>
        </p:txBody>
      </p:sp>
    </p:spTree>
    <p:extLst>
      <p:ext uri="{BB962C8B-B14F-4D97-AF65-F5344CB8AC3E}">
        <p14:creationId xmlns:p14="http://schemas.microsoft.com/office/powerpoint/2010/main" val="1844781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AA587-B355-4F7F-AD79-898D7CEB893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about this one?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BBB17F8-862C-4027-85FA-0277C4A8990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68"/>
          <a:stretch/>
        </p:blipFill>
        <p:spPr bwMode="auto">
          <a:xfrm>
            <a:off x="304800" y="1885087"/>
            <a:ext cx="8229600" cy="3448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091F0A-E1D7-40DE-A7A1-8E7D19A1EB7D}"/>
              </a:ext>
            </a:extLst>
          </p:cNvPr>
          <p:cNvSpPr txBox="1"/>
          <p:nvPr/>
        </p:nvSpPr>
        <p:spPr>
          <a:xfrm>
            <a:off x="3352800" y="5638800"/>
            <a:ext cx="243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Gated D-latch!</a:t>
            </a:r>
          </a:p>
        </p:txBody>
      </p:sp>
    </p:spTree>
    <p:extLst>
      <p:ext uri="{BB962C8B-B14F-4D97-AF65-F5344CB8AC3E}">
        <p14:creationId xmlns:p14="http://schemas.microsoft.com/office/powerpoint/2010/main" val="103907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84829-3DF3-46AA-8090-5C9833E7E8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Build a mux with TGs</a:t>
            </a:r>
            <a:br>
              <a:rPr lang="en-US" dirty="0"/>
            </a:br>
            <a:r>
              <a:rPr lang="en-US" dirty="0"/>
              <a:t>(2-to-1 and 4-to-1)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E4663982-0C9F-45C4-8CCE-4837B35831A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51"/>
          <a:stretch/>
        </p:blipFill>
        <p:spPr bwMode="auto">
          <a:xfrm>
            <a:off x="457200" y="1447799"/>
            <a:ext cx="4343400" cy="5041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5590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15657</TotalTime>
  <Words>288</Words>
  <Application>Microsoft Office PowerPoint</Application>
  <PresentationFormat>On-screen Show (4:3)</PresentationFormat>
  <Paragraphs>42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Wingdings</vt:lpstr>
      <vt:lpstr>Office Theme</vt:lpstr>
      <vt:lpstr>BITS Pilani  Digital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614</cp:revision>
  <dcterms:created xsi:type="dcterms:W3CDTF">2010-01-15T20:22:21Z</dcterms:created>
  <dcterms:modified xsi:type="dcterms:W3CDTF">2025-10-31T07:54:06Z</dcterms:modified>
</cp:coreProperties>
</file>