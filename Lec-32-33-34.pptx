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337" r:id="rId2"/>
    <p:sldId id="435" r:id="rId3"/>
    <p:sldId id="436" r:id="rId4"/>
    <p:sldId id="437" r:id="rId5"/>
    <p:sldId id="438" r:id="rId6"/>
    <p:sldId id="439" r:id="rId7"/>
    <p:sldId id="440" r:id="rId8"/>
    <p:sldId id="441" r:id="rId9"/>
    <p:sldId id="442" r:id="rId10"/>
    <p:sldId id="443" r:id="rId11"/>
    <p:sldId id="444" r:id="rId12"/>
    <p:sldId id="445" r:id="rId13"/>
    <p:sldId id="446" r:id="rId14"/>
    <p:sldId id="447" r:id="rId15"/>
    <p:sldId id="402" r:id="rId16"/>
    <p:sldId id="448" r:id="rId17"/>
    <p:sldId id="449" r:id="rId18"/>
    <p:sldId id="456" r:id="rId19"/>
    <p:sldId id="450" r:id="rId20"/>
    <p:sldId id="451" r:id="rId21"/>
    <p:sldId id="452" r:id="rId22"/>
    <p:sldId id="453" r:id="rId23"/>
    <p:sldId id="454" r:id="rId24"/>
    <p:sldId id="455" r:id="rId25"/>
    <p:sldId id="458" r:id="rId26"/>
    <p:sldId id="459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4B1"/>
    <a:srgbClr val="E39803"/>
    <a:srgbClr val="FF0000"/>
    <a:srgbClr val="76C2E5"/>
    <a:srgbClr val="FCB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3578" autoAdjust="0"/>
  </p:normalViewPr>
  <p:slideViewPr>
    <p:cSldViewPr>
      <p:cViewPr varScale="1">
        <p:scale>
          <a:sx n="62" d="100"/>
          <a:sy n="62" d="100"/>
        </p:scale>
        <p:origin x="72" y="5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11/13/2025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  <p:sldLayoutId id="2147484861" r:id="rId13"/>
    <p:sldLayoutId id="2147484862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BITS </a:t>
            </a:r>
            <a:r>
              <a:rPr lang="en-US" altLang="en-US" dirty="0" err="1"/>
              <a:t>Pilani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 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0F93F-8EFD-4014-BC09-26E2B70F662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Remember our sequential multiplier?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FEB284-F652-4AB9-955C-48FEBD5F44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600200"/>
            <a:ext cx="5678728" cy="2959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1A48F3-E5AF-43A4-9EC0-977CB87520E5}"/>
              </a:ext>
            </a:extLst>
          </p:cNvPr>
          <p:cNvSpPr txBox="1"/>
          <p:nvPr/>
        </p:nvSpPr>
        <p:spPr>
          <a:xfrm>
            <a:off x="5678728" y="1600200"/>
            <a:ext cx="3352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/>
              <a:t>Want to build a digital system that does this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What all does the system need to do?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742950" lvl="1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Arithmetic operations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742950" lvl="1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Decision regarding what operations to perform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E5A485-12BA-4805-96B7-9CEA1662419A}"/>
              </a:ext>
            </a:extLst>
          </p:cNvPr>
          <p:cNvSpPr txBox="1"/>
          <p:nvPr/>
        </p:nvSpPr>
        <p:spPr>
          <a:xfrm>
            <a:off x="304800" y="5073134"/>
            <a:ext cx="8534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Arithmetic operations (data processing): data path (data unit)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Inputs: data, control signals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Decision making with proper timing: control path (control unit)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Inputs: external conditions + internal ‘status’</a:t>
            </a:r>
          </a:p>
        </p:txBody>
      </p:sp>
    </p:spTree>
    <p:extLst>
      <p:ext uri="{BB962C8B-B14F-4D97-AF65-F5344CB8AC3E}">
        <p14:creationId xmlns:p14="http://schemas.microsoft.com/office/powerpoint/2010/main" val="282138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8904FF-2263-4205-9DE1-D02B339C8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90" y="1437871"/>
            <a:ext cx="5524962" cy="349279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E41F1-5753-4606-BFCA-1242D4C87C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Control and data path interaction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10A09-9AEB-4E17-9383-567FBAF035B1}"/>
              </a:ext>
            </a:extLst>
          </p:cNvPr>
          <p:cNvSpPr txBox="1"/>
          <p:nvPr/>
        </p:nvSpPr>
        <p:spPr>
          <a:xfrm>
            <a:off x="304800" y="5073134"/>
            <a:ext cx="8534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Arithmetic operations (data processing): data path (data unit)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Inputs: data, control signals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Decision making with proper timing: control path (control unit)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Inputs: external conditions + internal ‘status’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3C85B-4510-4588-950B-1D96F4ED644F}"/>
              </a:ext>
            </a:extLst>
          </p:cNvPr>
          <p:cNvSpPr txBox="1"/>
          <p:nvPr/>
        </p:nvSpPr>
        <p:spPr>
          <a:xfrm>
            <a:off x="5678728" y="1931075"/>
            <a:ext cx="3352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Combinational or sequential?</a:t>
            </a:r>
          </a:p>
          <a:p>
            <a:endParaRPr lang="en-IN" dirty="0">
              <a:solidFill>
                <a:srgbClr val="0070C0"/>
              </a:solidFill>
            </a:endParaRPr>
          </a:p>
          <a:p>
            <a:r>
              <a:rPr lang="en-IN" dirty="0">
                <a:solidFill>
                  <a:srgbClr val="0070C0"/>
                </a:solidFill>
              </a:rPr>
              <a:t>Data path?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Combinational!</a:t>
            </a:r>
          </a:p>
          <a:p>
            <a:endParaRPr lang="en-IN" dirty="0"/>
          </a:p>
          <a:p>
            <a:r>
              <a:rPr lang="en-IN" dirty="0">
                <a:solidFill>
                  <a:schemeClr val="accent6"/>
                </a:solidFill>
              </a:rPr>
              <a:t>Control path?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Sequential!</a:t>
            </a:r>
          </a:p>
        </p:txBody>
      </p:sp>
    </p:spTree>
    <p:extLst>
      <p:ext uri="{BB962C8B-B14F-4D97-AF65-F5344CB8AC3E}">
        <p14:creationId xmlns:p14="http://schemas.microsoft.com/office/powerpoint/2010/main" val="88002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C99E71-1941-4871-AF65-CE0E050F8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Control sequence and data processing tasks are specified by means of Hardware Algorithm.</a:t>
            </a:r>
          </a:p>
          <a:p>
            <a:pPr lvl="1">
              <a:buFontTx/>
              <a:buChar char="-"/>
            </a:pPr>
            <a:r>
              <a:rPr lang="en-US" sz="2000" dirty="0"/>
              <a:t>Algorithm: algorithm consists of a finite number of procedural steps that specify how to obtain a solution to a problem</a:t>
            </a:r>
          </a:p>
          <a:p>
            <a:pPr lvl="1">
              <a:buFontTx/>
              <a:buChar char="-"/>
            </a:pPr>
            <a:r>
              <a:rPr lang="en-US" sz="2000" dirty="0"/>
              <a:t>Hardware algorithm: procedure for solving the problem with a given piece of equipment</a:t>
            </a:r>
          </a:p>
          <a:p>
            <a:pPr>
              <a:buFontTx/>
              <a:buChar char="-"/>
            </a:pPr>
            <a:r>
              <a:rPr lang="en-US" dirty="0"/>
              <a:t>Flowchart: sequence of procedural steps</a:t>
            </a:r>
          </a:p>
          <a:p>
            <a:pPr lvl="1">
              <a:buFontTx/>
              <a:buChar char="-"/>
            </a:pPr>
            <a:r>
              <a:rPr lang="en-US" sz="2000" dirty="0"/>
              <a:t>Not concerned with the time relationship between steps (states)</a:t>
            </a:r>
          </a:p>
          <a:p>
            <a:pPr>
              <a:buFontTx/>
              <a:buChar char="-"/>
            </a:pPr>
            <a:r>
              <a:rPr lang="en-US" dirty="0"/>
              <a:t>A special flowchart developed to design digital hardware algorithms is called Algorithmic State Machines (ASM)</a:t>
            </a:r>
          </a:p>
          <a:p>
            <a:pPr lvl="1">
              <a:buFontTx/>
              <a:buChar char="-"/>
            </a:pPr>
            <a:r>
              <a:rPr lang="en-US" sz="2000" dirty="0"/>
              <a:t>Sequence of steps</a:t>
            </a:r>
          </a:p>
          <a:p>
            <a:pPr lvl="1">
              <a:buFontTx/>
              <a:buChar char="-"/>
            </a:pPr>
            <a:r>
              <a:rPr lang="en-US" sz="2000" dirty="0"/>
              <a:t>+ relationships between states of the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49914-92C5-4DD7-A4CA-C86FB206C8B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Algorithmic State Machine (ASM)</a:t>
            </a:r>
          </a:p>
        </p:txBody>
      </p:sp>
    </p:spTree>
    <p:extLst>
      <p:ext uri="{BB962C8B-B14F-4D97-AF65-F5344CB8AC3E}">
        <p14:creationId xmlns:p14="http://schemas.microsoft.com/office/powerpoint/2010/main" val="395767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919471-04CB-426C-8675-8E63BAF644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1676400"/>
            <a:ext cx="4293860" cy="452596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1405-64A2-4450-B94F-7B46E2764E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Components of an ASM chart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C4A1A6-0840-42FC-AD20-64E8F6C65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78" y="1667435"/>
            <a:ext cx="2133600" cy="10933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64C6E0-24D3-4192-850A-502DB7962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317" y="2873189"/>
            <a:ext cx="1955696" cy="17615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EE26F9-3861-4B0C-91B9-EDFAB9E6C10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694"/>
          <a:stretch/>
        </p:blipFill>
        <p:spPr>
          <a:xfrm>
            <a:off x="4697505" y="4881282"/>
            <a:ext cx="1364565" cy="10016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9BF7F8-9983-451C-A49D-32CD12061755}"/>
              </a:ext>
            </a:extLst>
          </p:cNvPr>
          <p:cNvSpPr txBox="1"/>
          <p:nvPr/>
        </p:nvSpPr>
        <p:spPr>
          <a:xfrm>
            <a:off x="6611470" y="1521624"/>
            <a:ext cx="255069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E39803"/>
                </a:solidFill>
              </a:rPr>
              <a:t>State box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E39803"/>
                </a:solidFill>
              </a:rPr>
              <a:t>Indicates a state (top left description and top right code)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E39803"/>
                </a:solidFill>
              </a:rPr>
              <a:t>Register operations (b)</a:t>
            </a:r>
          </a:p>
          <a:p>
            <a:r>
              <a:rPr lang="en-IN" sz="1400" dirty="0">
                <a:solidFill>
                  <a:srgbClr val="E39803"/>
                </a:solidFill>
              </a:rPr>
              <a:t>	OR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E39803"/>
                </a:solidFill>
              </a:rPr>
              <a:t>o/p control signal (c)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3178A5-E76D-407B-AAFA-A4A5DB3C823F}"/>
              </a:ext>
            </a:extLst>
          </p:cNvPr>
          <p:cNvSpPr txBox="1"/>
          <p:nvPr/>
        </p:nvSpPr>
        <p:spPr>
          <a:xfrm>
            <a:off x="6629400" y="3280844"/>
            <a:ext cx="255069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2184B1"/>
                </a:solidFill>
              </a:rPr>
              <a:t>Decision box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2184B1"/>
                </a:solidFill>
              </a:rPr>
              <a:t>Condition to be tested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2184B1"/>
                </a:solidFill>
              </a:rPr>
              <a:t>Possible exit paths (typically 2 for binary conditions)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0DF6F5-CE2E-46EB-A288-0C34F4AAD8B8}"/>
              </a:ext>
            </a:extLst>
          </p:cNvPr>
          <p:cNvSpPr txBox="1"/>
          <p:nvPr/>
        </p:nvSpPr>
        <p:spPr>
          <a:xfrm>
            <a:off x="6629400" y="4609177"/>
            <a:ext cx="255069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</a:rPr>
              <a:t>Conditional box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FF0000"/>
                </a:solidFill>
              </a:rPr>
              <a:t>Input always from the exit path of a condition box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FF0000"/>
                </a:solidFill>
              </a:rPr>
              <a:t>Register operations OR o/p control signals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FF0000"/>
                </a:solidFill>
              </a:rPr>
              <a:t>These are generated during the state if conditions are met</a:t>
            </a:r>
          </a:p>
        </p:txBody>
      </p:sp>
    </p:spTree>
    <p:extLst>
      <p:ext uri="{BB962C8B-B14F-4D97-AF65-F5344CB8AC3E}">
        <p14:creationId xmlns:p14="http://schemas.microsoft.com/office/powerpoint/2010/main" val="285791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16" grpId="0" uiExpand="1" build="p"/>
      <p:bldP spid="1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C3E9EF-215D-418F-A36B-609F1441F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5486400" cy="5334000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en-US" dirty="0"/>
              <a:t>Structure containing one state box and all decision and conditional boxes connected to the state box exit path</a:t>
            </a:r>
          </a:p>
          <a:p>
            <a:pPr>
              <a:buFontTx/>
              <a:buChar char="-"/>
            </a:pPr>
            <a:r>
              <a:rPr lang="en-US" dirty="0"/>
              <a:t>ASM block has </a:t>
            </a:r>
            <a:r>
              <a:rPr lang="en-US" b="1" dirty="0"/>
              <a:t>1 input (entrance)</a:t>
            </a:r>
            <a:r>
              <a:rPr lang="en-US" dirty="0"/>
              <a:t>, and any number of exit paths</a:t>
            </a:r>
          </a:p>
          <a:p>
            <a:pPr>
              <a:buFontTx/>
              <a:buChar char="-"/>
            </a:pPr>
            <a:r>
              <a:rPr lang="en-US" dirty="0"/>
              <a:t>Describes the state of the system during 1 clock cycle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accent6"/>
                </a:solidFill>
              </a:rPr>
              <a:t>All operations</a:t>
            </a:r>
            <a:r>
              <a:rPr lang="en-US" dirty="0"/>
              <a:t> inside the block are initiated </a:t>
            </a:r>
            <a:r>
              <a:rPr lang="en-US" dirty="0">
                <a:solidFill>
                  <a:schemeClr val="accent6"/>
                </a:solidFill>
              </a:rPr>
              <a:t>simultaneously</a:t>
            </a:r>
            <a:r>
              <a:rPr lang="en-US" dirty="0"/>
              <a:t> when the system </a:t>
            </a:r>
            <a:r>
              <a:rPr lang="en-US" dirty="0">
                <a:solidFill>
                  <a:srgbClr val="0070C0"/>
                </a:solidFill>
              </a:rPr>
              <a:t>transitions </a:t>
            </a:r>
            <a:r>
              <a:rPr lang="en-US" b="1" i="1" dirty="0">
                <a:solidFill>
                  <a:srgbClr val="0070C0"/>
                </a:solidFill>
              </a:rPr>
              <a:t>out</a:t>
            </a:r>
            <a:r>
              <a:rPr lang="en-US" dirty="0"/>
              <a:t> of the state into the next state</a:t>
            </a:r>
          </a:p>
          <a:p>
            <a:pPr>
              <a:buFontTx/>
              <a:buChar char="-"/>
            </a:pPr>
            <a:r>
              <a:rPr lang="en-US" dirty="0"/>
              <a:t>Similar to a state diagram:</a:t>
            </a:r>
          </a:p>
          <a:p>
            <a:pPr lvl="1">
              <a:buFontTx/>
              <a:buChar char="-"/>
            </a:pPr>
            <a:r>
              <a:rPr lang="en-US" sz="1800" dirty="0"/>
              <a:t>State box </a:t>
            </a:r>
            <a:r>
              <a:rPr lang="en-US" sz="1800" dirty="0">
                <a:sym typeface="Wingdings" panose="05000000000000000000" pitchFamily="2" charset="2"/>
              </a:rPr>
              <a:t> state</a:t>
            </a:r>
          </a:p>
          <a:p>
            <a:pPr lvl="1">
              <a:buFontTx/>
              <a:buChar char="-"/>
            </a:pPr>
            <a:r>
              <a:rPr lang="en-US" sz="1800" dirty="0">
                <a:sym typeface="Wingdings" panose="05000000000000000000" pitchFamily="2" charset="2"/>
              </a:rPr>
              <a:t>Decision box  edge connecting states</a:t>
            </a:r>
          </a:p>
          <a:p>
            <a:pPr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Similar design process for control path as you did for sequential circuits!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C9540-BDCB-4FED-9D0F-B2684D81FD4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ASM Block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04EFB-DF43-4010-BD5D-E44698C60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941" y="1434354"/>
            <a:ext cx="3113483" cy="34822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ED66A8-7EEB-45D3-BECC-F5ECDE1A2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397" y="4893137"/>
            <a:ext cx="1857709" cy="15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94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38F38F-BFDC-4FEB-B90F-1250D0A4E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Conventional flowcharts: the listed operations follow one after another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ASM chart: everything within a block happens simultaneously, synchronized to the clock pulse!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C56D6-21D3-4522-B7AE-3BF20A77124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Comparison to conventional flowcharts</a:t>
            </a:r>
          </a:p>
        </p:txBody>
      </p:sp>
    </p:spTree>
    <p:extLst>
      <p:ext uri="{BB962C8B-B14F-4D97-AF65-F5344CB8AC3E}">
        <p14:creationId xmlns:p14="http://schemas.microsoft.com/office/powerpoint/2010/main" val="3841799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35B18E-4665-4428-9ED6-8C004E091A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553"/>
          <a:stretch/>
        </p:blipFill>
        <p:spPr>
          <a:xfrm>
            <a:off x="55576" y="1371600"/>
            <a:ext cx="4346782" cy="465158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D774A-4342-4555-8D21-7C14CC901EE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Projects (next 1 - 2 semesters)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EA2BED-2889-4C56-A468-7F7959DFC78E}"/>
              </a:ext>
            </a:extLst>
          </p:cNvPr>
          <p:cNvSpPr txBox="1"/>
          <p:nvPr/>
        </p:nvSpPr>
        <p:spPr>
          <a:xfrm>
            <a:off x="4191000" y="1447800"/>
            <a:ext cx="4764054" cy="5042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AutoNum type="arabicPeriod"/>
            </a:pPr>
            <a:r>
              <a:rPr lang="en-IN" sz="1500" dirty="0"/>
              <a:t>Development of teaching / learning tools</a:t>
            </a:r>
          </a:p>
          <a:p>
            <a:pPr marL="857250" lvl="1" indent="-400050">
              <a:spcAft>
                <a:spcPts val="800"/>
              </a:spcAft>
              <a:buFont typeface="+mj-lt"/>
              <a:buAutoNum type="romanLcPeriod"/>
            </a:pPr>
            <a:r>
              <a:rPr lang="en-IN" sz="1500" dirty="0"/>
              <a:t>Easy to create / deploy pop quiz addons for PPT / Google Slides</a:t>
            </a:r>
          </a:p>
          <a:p>
            <a:pPr lvl="2">
              <a:spcAft>
                <a:spcPts val="800"/>
              </a:spcAft>
            </a:pPr>
            <a:r>
              <a:rPr lang="en-IN" sz="1500" dirty="0">
                <a:sym typeface="Wingdings" panose="05000000000000000000" pitchFamily="2" charset="2"/>
              </a:rPr>
              <a:t> </a:t>
            </a:r>
            <a:r>
              <a:rPr lang="en-IN" sz="1500" dirty="0"/>
              <a:t>Web stack, general coding</a:t>
            </a:r>
          </a:p>
          <a:p>
            <a:pPr marL="800100" lvl="1" indent="-342900">
              <a:spcAft>
                <a:spcPts val="800"/>
              </a:spcAft>
              <a:buAutoNum type="romanLcPeriod"/>
            </a:pPr>
            <a:r>
              <a:rPr lang="en-IN" sz="1500" dirty="0"/>
              <a:t>LLM based adaptive unit testing platform</a:t>
            </a:r>
          </a:p>
          <a:p>
            <a:pPr lvl="2">
              <a:spcAft>
                <a:spcPts val="800"/>
              </a:spcAft>
            </a:pPr>
            <a:r>
              <a:rPr lang="en-IN" sz="1500" dirty="0">
                <a:sym typeface="Wingdings" panose="05000000000000000000" pitchFamily="2" charset="2"/>
              </a:rPr>
              <a:t> </a:t>
            </a:r>
            <a:r>
              <a:rPr lang="en-IN" sz="1500" dirty="0"/>
              <a:t>Web stack, LLM integration</a:t>
            </a:r>
          </a:p>
          <a:p>
            <a:pPr>
              <a:spcAft>
                <a:spcPts val="800"/>
              </a:spcAft>
            </a:pPr>
            <a:r>
              <a:rPr lang="en-IN" sz="1500" dirty="0"/>
              <a:t>*Find an interested senior who has taken Comp Arch and was good at it.</a:t>
            </a:r>
          </a:p>
          <a:p>
            <a:pPr>
              <a:spcAft>
                <a:spcPts val="800"/>
              </a:spcAft>
            </a:pPr>
            <a:r>
              <a:rPr lang="en-IN" sz="1500" dirty="0"/>
              <a:t>*Add their name in the ‘Other’ question in the form</a:t>
            </a:r>
          </a:p>
          <a:p>
            <a:pPr>
              <a:spcAft>
                <a:spcPts val="800"/>
              </a:spcAft>
            </a:pPr>
            <a:r>
              <a:rPr lang="en-IN" sz="1500" dirty="0"/>
              <a:t>*They should also fill the form separately, and mention </a:t>
            </a:r>
            <a:r>
              <a:rPr lang="en-IN" sz="1500" i="1" dirty="0"/>
              <a:t>your</a:t>
            </a:r>
            <a:r>
              <a:rPr lang="en-IN" sz="1500" dirty="0"/>
              <a:t> name + </a:t>
            </a:r>
            <a:r>
              <a:rPr lang="en-IN" sz="1500" i="1" dirty="0"/>
              <a:t>their</a:t>
            </a:r>
            <a:r>
              <a:rPr lang="en-IN" sz="1500" dirty="0"/>
              <a:t> comp arch grade in the ‘Other’ question (</a:t>
            </a:r>
            <a:r>
              <a:rPr lang="en-IN" sz="1500" i="1" dirty="0"/>
              <a:t>Senior can be taken as TA for CS F342)</a:t>
            </a:r>
            <a:endParaRPr lang="en-IN" sz="1500" dirty="0"/>
          </a:p>
          <a:p>
            <a:pPr>
              <a:spcAft>
                <a:spcPts val="800"/>
              </a:spcAft>
            </a:pPr>
            <a:r>
              <a:rPr lang="en-IN" sz="1500" b="1" dirty="0"/>
              <a:t>*Fill by: Saturday night; Start: Next week!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 startAt="2"/>
            </a:pPr>
            <a:r>
              <a:rPr lang="en-IN" sz="1500" dirty="0"/>
              <a:t>Neuroscience</a:t>
            </a:r>
          </a:p>
          <a:p>
            <a:pPr marL="857250" lvl="1" indent="-400050">
              <a:spcAft>
                <a:spcPts val="800"/>
              </a:spcAft>
              <a:buFont typeface="+mj-lt"/>
              <a:buAutoNum type="romanLcPeriod"/>
            </a:pPr>
            <a:r>
              <a:rPr lang="en-IN" sz="1500" dirty="0"/>
              <a:t>Cognitive neuroscience experiments</a:t>
            </a:r>
            <a:br>
              <a:rPr lang="en-IN" sz="1500" dirty="0"/>
            </a:br>
            <a:r>
              <a:rPr lang="en-IN" sz="1500" dirty="0">
                <a:sym typeface="Wingdings" panose="05000000000000000000" pitchFamily="2" charset="2"/>
              </a:rPr>
              <a:t> </a:t>
            </a:r>
            <a:r>
              <a:rPr lang="en-IN" sz="1500" dirty="0"/>
              <a:t>Long term research interest only (2-3 semester commitment)</a:t>
            </a:r>
          </a:p>
        </p:txBody>
      </p:sp>
    </p:spTree>
    <p:extLst>
      <p:ext uri="{BB962C8B-B14F-4D97-AF65-F5344CB8AC3E}">
        <p14:creationId xmlns:p14="http://schemas.microsoft.com/office/powerpoint/2010/main" val="172724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6399C7-3CF1-4FBC-9C22-DC35D3D24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5410200" cy="5013884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u="sng" dirty="0"/>
              <a:t>Parts:</a:t>
            </a:r>
          </a:p>
          <a:p>
            <a:pPr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2 FFs (named </a:t>
            </a:r>
            <a:r>
              <a:rPr lang="en-US" i="1" dirty="0"/>
              <a:t>E</a:t>
            </a:r>
            <a:r>
              <a:rPr lang="en-US" dirty="0"/>
              <a:t> and </a:t>
            </a:r>
            <a:r>
              <a:rPr lang="en-US" i="1" dirty="0"/>
              <a:t>F</a:t>
            </a:r>
            <a:r>
              <a:rPr lang="en-US" dirty="0"/>
              <a:t>), 4-bit binary counter (</a:t>
            </a:r>
            <a:r>
              <a:rPr lang="en-US" i="1" dirty="0"/>
              <a:t>A</a:t>
            </a:r>
            <a:r>
              <a:rPr lang="en-US" i="1" baseline="-25000" dirty="0"/>
              <a:t>4</a:t>
            </a:r>
            <a:r>
              <a:rPr lang="en-US" i="1" dirty="0"/>
              <a:t>A</a:t>
            </a:r>
            <a:r>
              <a:rPr lang="en-US" i="1" baseline="-25000" dirty="0"/>
              <a:t>3</a:t>
            </a:r>
            <a:r>
              <a:rPr lang="en-US" i="1" dirty="0"/>
              <a:t>A</a:t>
            </a:r>
            <a:r>
              <a:rPr lang="en-US" i="1" baseline="-25000" dirty="0"/>
              <a:t>2</a:t>
            </a:r>
            <a:r>
              <a:rPr lang="en-US" i="1" dirty="0"/>
              <a:t>A</a:t>
            </a:r>
            <a:r>
              <a:rPr lang="en-US" i="1" baseline="-25000" dirty="0"/>
              <a:t>1</a:t>
            </a:r>
            <a:r>
              <a:rPr lang="en-US" dirty="0"/>
              <a:t>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u="sng" dirty="0"/>
              <a:t>Working: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i="1" dirty="0"/>
              <a:t>start </a:t>
            </a:r>
            <a:r>
              <a:rPr lang="en-US" dirty="0"/>
              <a:t>signal </a:t>
            </a:r>
            <a:r>
              <a:rPr lang="en-US" i="1" dirty="0"/>
              <a:t>(S)</a:t>
            </a:r>
            <a:r>
              <a:rPr lang="en-US" dirty="0"/>
              <a:t> initiates the operation by clearing the counter and </a:t>
            </a:r>
            <a:r>
              <a:rPr lang="en-US" i="1" dirty="0"/>
              <a:t>F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dirty="0"/>
              <a:t>Counter increments at each clock pulse until stopped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i="1" baseline="-25000" dirty="0"/>
              <a:t>3</a:t>
            </a:r>
            <a:r>
              <a:rPr lang="en-US" i="1" dirty="0"/>
              <a:t> = 0</a:t>
            </a:r>
            <a:r>
              <a:rPr lang="en-US" dirty="0"/>
              <a:t>: </a:t>
            </a:r>
            <a:r>
              <a:rPr lang="en-US" i="1" dirty="0"/>
              <a:t>E</a:t>
            </a:r>
            <a:r>
              <a:rPr lang="en-US" dirty="0"/>
              <a:t> cleared and count continues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i="1" baseline="-25000" dirty="0"/>
              <a:t>3</a:t>
            </a:r>
            <a:r>
              <a:rPr lang="en-US" i="1" dirty="0"/>
              <a:t> = 1</a:t>
            </a:r>
            <a:r>
              <a:rPr lang="en-US" dirty="0"/>
              <a:t>: E set to 1 and</a:t>
            </a:r>
          </a:p>
          <a:p>
            <a:pPr marL="857250" lvl="1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sz="2200" dirty="0"/>
              <a:t>If </a:t>
            </a:r>
            <a:r>
              <a:rPr lang="en-US" sz="2200" i="1" dirty="0"/>
              <a:t>A</a:t>
            </a:r>
            <a:r>
              <a:rPr lang="en-US" sz="2200" i="1" baseline="-25000" dirty="0"/>
              <a:t>4</a:t>
            </a:r>
            <a:r>
              <a:rPr lang="en-US" sz="2200" i="1" dirty="0"/>
              <a:t> = 0</a:t>
            </a:r>
            <a:r>
              <a:rPr lang="en-US" sz="2200" dirty="0"/>
              <a:t>: count continues</a:t>
            </a:r>
          </a:p>
          <a:p>
            <a:pPr marL="857250" lvl="1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sz="2200" dirty="0"/>
              <a:t>If </a:t>
            </a:r>
            <a:r>
              <a:rPr lang="en-US" sz="2200" i="1" dirty="0"/>
              <a:t>A</a:t>
            </a:r>
            <a:r>
              <a:rPr lang="en-US" sz="2200" i="1" baseline="-25000" dirty="0"/>
              <a:t>4</a:t>
            </a:r>
            <a:r>
              <a:rPr lang="en-US" sz="2200" i="1" dirty="0"/>
              <a:t> = 1</a:t>
            </a:r>
            <a:r>
              <a:rPr lang="en-US" sz="2200" dirty="0"/>
              <a:t>: </a:t>
            </a:r>
            <a:r>
              <a:rPr lang="en-US" sz="2200" i="1" dirty="0"/>
              <a:t>F</a:t>
            </a:r>
            <a:r>
              <a:rPr lang="en-US" sz="2200" dirty="0"/>
              <a:t> set to 1 and counting stops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dirty="0"/>
              <a:t>If </a:t>
            </a:r>
            <a:r>
              <a:rPr lang="en-US" i="1" dirty="0"/>
              <a:t>S = 0</a:t>
            </a:r>
            <a:r>
              <a:rPr lang="en-US" dirty="0"/>
              <a:t>: system retains state</a:t>
            </a:r>
            <a:br>
              <a:rPr lang="en-US" dirty="0"/>
            </a:br>
            <a:r>
              <a:rPr lang="en-US" dirty="0"/>
              <a:t>If </a:t>
            </a:r>
            <a:r>
              <a:rPr lang="en-US" i="1" dirty="0"/>
              <a:t>S = 1</a:t>
            </a:r>
            <a:r>
              <a:rPr lang="en-US" dirty="0"/>
              <a:t>: operation cycle repeats from the beginning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C7242-B4B8-4616-B093-3FADEE19868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49E9E4F-713F-4AEE-A395-50B39339F3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/>
        </p:blipFill>
        <p:spPr bwMode="auto">
          <a:xfrm>
            <a:off x="5791202" y="1371600"/>
            <a:ext cx="3047998" cy="513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307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AB0E0D-51A5-4C8F-AFB5-A44C1DF9F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53340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states do we have?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ASM blocks do we have?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Remember: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/>
              <a:t>Every block in the ASM chart specifies the operations performed during one common clock pulse.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/>
              <a:t>Operations specified within the state and conditional boxes in the block are performed in the </a:t>
            </a:r>
            <a:r>
              <a:rPr lang="en-US" altLang="en-US" sz="2000" dirty="0" err="1"/>
              <a:t>datapath</a:t>
            </a:r>
            <a:r>
              <a:rPr lang="en-US" altLang="en-US" sz="2000" dirty="0"/>
              <a:t> section.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/>
              <a:t>The change from one state to next is performed in the control section.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8180C-A50E-41BD-BAE2-219514BE3E2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3A593DF-F37B-430F-A47C-38F3273DB8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/>
        </p:blipFill>
        <p:spPr bwMode="auto">
          <a:xfrm>
            <a:off x="5791202" y="1371600"/>
            <a:ext cx="3047998" cy="513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24A95A-6007-4E9B-9C3B-C6439A922FE3}"/>
              </a:ext>
            </a:extLst>
          </p:cNvPr>
          <p:cNvSpPr/>
          <p:nvPr/>
        </p:nvSpPr>
        <p:spPr>
          <a:xfrm>
            <a:off x="6400800" y="1613647"/>
            <a:ext cx="1143000" cy="17839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6C0377-C58D-4D24-B49C-53F4D7FF3186}"/>
              </a:ext>
            </a:extLst>
          </p:cNvPr>
          <p:cNvSpPr/>
          <p:nvPr/>
        </p:nvSpPr>
        <p:spPr>
          <a:xfrm>
            <a:off x="5737412" y="3558988"/>
            <a:ext cx="2720788" cy="22322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B1D4C9-147B-461E-8CD0-BDE6D1EB26AE}"/>
              </a:ext>
            </a:extLst>
          </p:cNvPr>
          <p:cNvSpPr/>
          <p:nvPr/>
        </p:nvSpPr>
        <p:spPr>
          <a:xfrm>
            <a:off x="7315201" y="5943600"/>
            <a:ext cx="1143000" cy="367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3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8D0185-56CF-41FF-BBC5-5DD668CA1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3048000" cy="4525963"/>
          </a:xfrm>
        </p:spPr>
        <p:txBody>
          <a:bodyPr/>
          <a:lstStyle/>
          <a:p>
            <a:r>
              <a:rPr lang="en-US" dirty="0"/>
              <a:t>Components: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4-bit binary counter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FFs </a:t>
            </a:r>
            <a:r>
              <a:rPr lang="en-US" i="1" dirty="0"/>
              <a:t>E</a:t>
            </a:r>
            <a:r>
              <a:rPr lang="en-US" dirty="0"/>
              <a:t> and </a:t>
            </a:r>
            <a:r>
              <a:rPr lang="en-US" i="1" dirty="0"/>
              <a:t>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Gates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Inputs: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State (</a:t>
            </a:r>
            <a:r>
              <a:rPr lang="en-US" i="1" dirty="0"/>
              <a:t>T</a:t>
            </a:r>
            <a:r>
              <a:rPr lang="en-US" i="1" baseline="-25000" dirty="0"/>
              <a:t>0</a:t>
            </a:r>
            <a:r>
              <a:rPr lang="en-US" dirty="0"/>
              <a:t>, </a:t>
            </a:r>
            <a:r>
              <a:rPr lang="en-US" i="1" dirty="0"/>
              <a:t>T</a:t>
            </a:r>
            <a:r>
              <a:rPr lang="en-US" i="1" baseline="-25000" dirty="0"/>
              <a:t>1</a:t>
            </a:r>
            <a:r>
              <a:rPr lang="en-US" dirty="0"/>
              <a:t>, </a:t>
            </a:r>
            <a:r>
              <a:rPr lang="en-US" i="1" dirty="0"/>
              <a:t>T</a:t>
            </a:r>
            <a:r>
              <a:rPr lang="en-US" i="1" baseline="-25000" dirty="0"/>
              <a:t>2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Start signal, </a:t>
            </a:r>
            <a:r>
              <a:rPr lang="en-US" i="1" dirty="0"/>
              <a:t>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Clock, </a:t>
            </a:r>
            <a:r>
              <a:rPr lang="en-US" i="1" dirty="0"/>
              <a:t>C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E310AB8-1C80-4ED0-AAA5-1D9AFC2A67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28"/>
          <a:stretch/>
        </p:blipFill>
        <p:spPr bwMode="auto">
          <a:xfrm>
            <a:off x="4058051" y="762000"/>
            <a:ext cx="4781149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17DEC-C8B5-4281-A91F-8A24697303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Designing the data path</a:t>
            </a:r>
          </a:p>
        </p:txBody>
      </p:sp>
    </p:spTree>
    <p:extLst>
      <p:ext uri="{BB962C8B-B14F-4D97-AF65-F5344CB8AC3E}">
        <p14:creationId xmlns:p14="http://schemas.microsoft.com/office/powerpoint/2010/main" val="3515604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13114-C4A6-4210-BF9B-74CB212A50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Designing the control path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06A35B8-ADF8-4B4F-98E3-6689A23B79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03" r="42593" b="29884"/>
          <a:stretch/>
        </p:blipFill>
        <p:spPr bwMode="auto">
          <a:xfrm>
            <a:off x="4607859" y="1493837"/>
            <a:ext cx="3962400" cy="142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B126C42-EA40-49B1-85EC-D2158431A4B3}"/>
              </a:ext>
            </a:extLst>
          </p:cNvPr>
          <p:cNvSpPr txBox="1">
            <a:spLocks/>
          </p:cNvSpPr>
          <p:nvPr/>
        </p:nvSpPr>
        <p:spPr bwMode="auto">
          <a:xfrm>
            <a:off x="304800" y="1493837"/>
            <a:ext cx="41910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FFs for control circuit (CC)?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 states =&gt; 2 FFs! G</a:t>
            </a:r>
            <a:r>
              <a:rPr lang="en-US" baseline="-25000" dirty="0"/>
              <a:t>1</a:t>
            </a:r>
            <a:r>
              <a:rPr lang="en-US" dirty="0"/>
              <a:t> and G</a:t>
            </a:r>
            <a:r>
              <a:rPr lang="en-US" baseline="-25000" dirty="0"/>
              <a:t>0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are the outputs of CC?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lang="en-US" baseline="-25000" dirty="0"/>
              <a:t>0</a:t>
            </a:r>
            <a:r>
              <a:rPr lang="en-US" dirty="0"/>
              <a:t>, T</a:t>
            </a:r>
            <a:r>
              <a:rPr lang="en-US" baseline="-25000" dirty="0"/>
              <a:t>1</a:t>
            </a:r>
            <a:r>
              <a:rPr lang="en-US" dirty="0"/>
              <a:t>, T</a:t>
            </a:r>
            <a:r>
              <a:rPr lang="en-US" baseline="-25000" dirty="0"/>
              <a:t>2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are the inputs to the control circuit?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S, A</a:t>
            </a:r>
            <a:r>
              <a:rPr lang="en-US" baseline="-25000" dirty="0"/>
              <a:t>3</a:t>
            </a:r>
            <a:r>
              <a:rPr lang="en-US" dirty="0"/>
              <a:t>, A</a:t>
            </a:r>
            <a:r>
              <a:rPr lang="en-US" baseline="-25000" dirty="0"/>
              <a:t>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111072-27C1-4033-BEB6-1BD139412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177" y="3118522"/>
            <a:ext cx="3881388" cy="327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7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7773F88-DAC3-43F3-B5D8-D63157221B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6039071"/>
              </p:ext>
            </p:extLst>
          </p:nvPr>
        </p:nvGraphicFramePr>
        <p:xfrm>
          <a:off x="304800" y="1493838"/>
          <a:ext cx="815339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218">
                  <a:extLst>
                    <a:ext uri="{9D8B030D-6E8A-4147-A177-3AD203B41FA5}">
                      <a16:colId xmlns:a16="http://schemas.microsoft.com/office/drawing/2014/main" val="408140083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163166700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1848673016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653344348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365632172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806904851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497812016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52294240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2460859006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826942030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79011606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Present state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Inputs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 state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Outputs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384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Name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T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T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T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917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46719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94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31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851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821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105054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8A6EB-515D-4BF3-B775-48FBBAD803F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Building the state table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50BE97A-FDFA-4515-B3FB-286D0D8DB55B}"/>
              </a:ext>
            </a:extLst>
          </p:cNvPr>
          <p:cNvSpPr txBox="1">
            <a:spLocks/>
          </p:cNvSpPr>
          <p:nvPr/>
        </p:nvSpPr>
        <p:spPr bwMode="auto">
          <a:xfrm>
            <a:off x="304800" y="4648200"/>
            <a:ext cx="2895600" cy="1360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dirty="0"/>
              <a:t>Design using D FFs:</a:t>
            </a:r>
          </a:p>
          <a:p>
            <a:pPr marL="0" indent="0"/>
            <a:r>
              <a:rPr lang="en-US" dirty="0"/>
              <a:t>DG</a:t>
            </a:r>
            <a:r>
              <a:rPr lang="en-US" baseline="-25000" dirty="0"/>
              <a:t>0</a:t>
            </a:r>
            <a:r>
              <a:rPr lang="en-US" dirty="0"/>
              <a:t>: T</a:t>
            </a:r>
            <a:r>
              <a:rPr lang="en-US" baseline="-25000" dirty="0"/>
              <a:t>0</a:t>
            </a:r>
            <a:r>
              <a:rPr lang="en-US" dirty="0"/>
              <a:t>S+T</a:t>
            </a:r>
            <a:r>
              <a:rPr lang="en-US" baseline="-25000" dirty="0"/>
              <a:t>1</a:t>
            </a:r>
          </a:p>
          <a:p>
            <a:pPr marL="0" indent="0"/>
            <a:r>
              <a:rPr lang="en-US" dirty="0"/>
              <a:t>DG</a:t>
            </a:r>
            <a:r>
              <a:rPr lang="en-US" baseline="-25000" dirty="0"/>
              <a:t>1</a:t>
            </a:r>
            <a:r>
              <a:rPr lang="en-US" dirty="0"/>
              <a:t>: T</a:t>
            </a:r>
            <a:r>
              <a:rPr lang="en-US" baseline="-25000" dirty="0"/>
              <a:t>1</a:t>
            </a:r>
            <a:r>
              <a:rPr lang="en-US" dirty="0"/>
              <a:t>A</a:t>
            </a:r>
            <a:r>
              <a:rPr lang="en-US" baseline="-25000" dirty="0"/>
              <a:t>3</a:t>
            </a:r>
            <a:r>
              <a:rPr lang="en-US" dirty="0"/>
              <a:t>A</a:t>
            </a:r>
            <a:r>
              <a:rPr lang="en-US" baseline="-25000" dirty="0"/>
              <a:t>4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DBD34984-8C1D-434D-BF3A-4D18B199E7C4}"/>
              </a:ext>
            </a:extLst>
          </p:cNvPr>
          <p:cNvSpPr txBox="1">
            <a:spLocks/>
          </p:cNvSpPr>
          <p:nvPr/>
        </p:nvSpPr>
        <p:spPr bwMode="auto">
          <a:xfrm>
            <a:off x="3467100" y="4648200"/>
            <a:ext cx="2895600" cy="1360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dirty="0"/>
              <a:t>Outputs:</a:t>
            </a:r>
          </a:p>
          <a:p>
            <a:pPr marL="0" indent="0"/>
            <a:r>
              <a:rPr lang="en-US" dirty="0"/>
              <a:t>T</a:t>
            </a:r>
            <a:r>
              <a:rPr lang="en-US" baseline="-25000" dirty="0"/>
              <a:t>0</a:t>
            </a:r>
            <a:r>
              <a:rPr lang="en-US" dirty="0"/>
              <a:t>: G</a:t>
            </a:r>
            <a:r>
              <a:rPr lang="en-US" baseline="-25000" dirty="0"/>
              <a:t>0</a:t>
            </a:r>
            <a:r>
              <a:rPr lang="en-US" dirty="0"/>
              <a:t>’</a:t>
            </a:r>
          </a:p>
          <a:p>
            <a:pPr marL="0" indent="0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: G</a:t>
            </a:r>
            <a:r>
              <a:rPr lang="en-US" baseline="-25000" dirty="0"/>
              <a:t>1</a:t>
            </a:r>
            <a:r>
              <a:rPr lang="en-US" dirty="0"/>
              <a:t>’G</a:t>
            </a:r>
            <a:r>
              <a:rPr lang="en-US" baseline="-25000" dirty="0"/>
              <a:t>0</a:t>
            </a:r>
          </a:p>
          <a:p>
            <a:pPr marL="0" indent="0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: G</a:t>
            </a:r>
            <a:r>
              <a:rPr lang="en-US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7918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DD282-B041-4E7A-BCBC-0C82CCE21D0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Control circuit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7350A3A-32BC-411E-BA37-65A8B81205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/>
        </p:blipFill>
        <p:spPr bwMode="auto">
          <a:xfrm>
            <a:off x="291353" y="1524000"/>
            <a:ext cx="3823651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147CE441-BA96-482E-98E7-5E19B9CE6D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28"/>
          <a:stretch/>
        </p:blipFill>
        <p:spPr bwMode="auto">
          <a:xfrm>
            <a:off x="4058051" y="762000"/>
            <a:ext cx="4781149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28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60A1A136-0209-90F1-B1E4-6D0F79EE2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47800"/>
            <a:ext cx="5105400" cy="51054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439D3-5825-E989-96F9-EF0D6E48C41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Attendance!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6D221-3557-4B26-23D4-4BAF1442A190}"/>
              </a:ext>
            </a:extLst>
          </p:cNvPr>
          <p:cNvSpPr txBox="1"/>
          <p:nvPr/>
        </p:nvSpPr>
        <p:spPr>
          <a:xfrm>
            <a:off x="5486400" y="1905000"/>
            <a:ext cx="3352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Will be opened only during the attendance window.</a:t>
            </a:r>
          </a:p>
          <a:p>
            <a:endParaRPr lang="en-IN" dirty="0"/>
          </a:p>
          <a:p>
            <a:r>
              <a:rPr lang="en-IN" dirty="0"/>
              <a:t>Enable location on your device.</a:t>
            </a:r>
          </a:p>
          <a:p>
            <a:endParaRPr lang="en-IN" dirty="0"/>
          </a:p>
          <a:p>
            <a:r>
              <a:rPr lang="en-IN" dirty="0"/>
              <a:t>Grant any location permissions requested by the website.</a:t>
            </a:r>
          </a:p>
          <a:p>
            <a:endParaRPr lang="en-IN" dirty="0"/>
          </a:p>
          <a:p>
            <a:r>
              <a:rPr lang="en-IN" dirty="0"/>
              <a:t>Refresh the page.</a:t>
            </a:r>
          </a:p>
          <a:p>
            <a:endParaRPr lang="en-IN" dirty="0"/>
          </a:p>
          <a:p>
            <a:r>
              <a:rPr lang="en-IN" dirty="0"/>
              <a:t>Try submitting again.</a:t>
            </a:r>
          </a:p>
        </p:txBody>
      </p:sp>
    </p:spTree>
    <p:extLst>
      <p:ext uri="{BB962C8B-B14F-4D97-AF65-F5344CB8AC3E}">
        <p14:creationId xmlns:p14="http://schemas.microsoft.com/office/powerpoint/2010/main" val="2628076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BB6F0-215F-4B43-B21C-9AD4CCF2FA5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Now let’s do the binary multiplier!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5EB8A43-3DB3-4719-8DA8-E78026DAF6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52" y="1493838"/>
            <a:ext cx="7276495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290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ADBEE-2A05-4F3F-8B4B-97542769F9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Multiplier ASM chart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DF065BB-CE85-4002-A102-98502D7A2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679572" cy="2910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5F219D2-1E86-4DC0-9151-43D86C31C1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/>
        </p:blipFill>
        <p:spPr bwMode="auto">
          <a:xfrm>
            <a:off x="5012434" y="0"/>
            <a:ext cx="413156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7FA756-F88F-4086-BA8B-F7FD7FE1AC9C}"/>
              </a:ext>
            </a:extLst>
          </p:cNvPr>
          <p:cNvSpPr txBox="1"/>
          <p:nvPr/>
        </p:nvSpPr>
        <p:spPr>
          <a:xfrm>
            <a:off x="114300" y="4510882"/>
            <a:ext cx="46795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Wait for ‘start’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Set up registers and counters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Count down and perform appropriate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Shift and repeat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When countdown completes, go back to the ‘waiting’ state.</a:t>
            </a:r>
          </a:p>
        </p:txBody>
      </p:sp>
    </p:spTree>
    <p:extLst>
      <p:ext uri="{BB962C8B-B14F-4D97-AF65-F5344CB8AC3E}">
        <p14:creationId xmlns:p14="http://schemas.microsoft.com/office/powerpoint/2010/main" val="383932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C4166-B5F4-45B6-AE4F-973322D84E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09700" y="3418703"/>
            <a:ext cx="6324600" cy="1143000"/>
          </a:xfrm>
        </p:spPr>
        <p:txBody>
          <a:bodyPr/>
          <a:lstStyle/>
          <a:p>
            <a:pPr algn="ctr"/>
            <a:r>
              <a:rPr lang="en-US" dirty="0"/>
              <a:t>Design of control logic</a:t>
            </a:r>
          </a:p>
        </p:txBody>
      </p:sp>
    </p:spTree>
    <p:extLst>
      <p:ext uri="{BB962C8B-B14F-4D97-AF65-F5344CB8AC3E}">
        <p14:creationId xmlns:p14="http://schemas.microsoft.com/office/powerpoint/2010/main" val="447043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2821D-060E-49ED-ADCA-898F77B6985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of control logic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E6492E2-A9C9-467E-915C-8A357CD011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66329"/>
          <a:stretch/>
        </p:blipFill>
        <p:spPr bwMode="auto">
          <a:xfrm>
            <a:off x="16476" y="1415138"/>
            <a:ext cx="549558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C914C3D-E910-4C4A-B375-853FA9E94F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8806"/>
          <a:stretch/>
        </p:blipFill>
        <p:spPr bwMode="auto">
          <a:xfrm>
            <a:off x="16476" y="1432202"/>
            <a:ext cx="5495585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D9B6E5-18DE-437D-AD91-A59426104841}"/>
              </a:ext>
            </a:extLst>
          </p:cNvPr>
          <p:cNvSpPr txBox="1"/>
          <p:nvPr/>
        </p:nvSpPr>
        <p:spPr>
          <a:xfrm>
            <a:off x="3886200" y="2649076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i="0" dirty="0"/>
              <a:t>Signals for controlling register operations: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en-US" i="0" dirty="0"/>
              <a:t>T1 ( for clearing A and C)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en-US" i="0" dirty="0"/>
              <a:t>T2 ( for decrementing P)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en-US" i="0" dirty="0"/>
              <a:t>T3( for shifting CAQ), Q0 to decide whether to add B or not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9305651-E932-46E6-9770-8D3956420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899" y="4246142"/>
            <a:ext cx="5656625" cy="201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0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6112D5E-7E2F-45CE-89A1-B8A4894471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0584055"/>
              </p:ext>
            </p:extLst>
          </p:nvPr>
        </p:nvGraphicFramePr>
        <p:xfrm>
          <a:off x="457200" y="1511300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415726477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19126680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65930285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564959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Gray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One-hot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420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91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84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93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127828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789DB-2652-4C32-AB12-7C6DC9245E1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of control logic – state assignment and state table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CFC8090-FEB7-41D1-ABE0-C2C197AEC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274060"/>
              </p:ext>
            </p:extLst>
          </p:nvPr>
        </p:nvGraphicFramePr>
        <p:xfrm>
          <a:off x="457200" y="3492501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170423954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424052080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12092568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92342885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84373321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82933004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33281177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48992229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25268778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864456258"/>
                    </a:ext>
                  </a:extLst>
                </a:gridCol>
              </a:tblGrid>
              <a:tr h="295468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Present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123828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979670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36683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314396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54873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91606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16287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61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88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789DB-2652-4C32-AB12-7C6DC9245E1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of control logic – state assignment and state table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CFC8090-FEB7-41D1-ABE0-C2C197AEC12D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492501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170423954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424052080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12092568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92342885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84373321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82933004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33281177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48992229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25268778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864456258"/>
                    </a:ext>
                  </a:extLst>
                </a:gridCol>
              </a:tblGrid>
              <a:tr h="295468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Present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123828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979670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36683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314396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54873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91606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16287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61839"/>
                  </a:ext>
                </a:extLst>
              </a:tr>
            </a:tbl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F94A0E-FD3F-494F-BCDC-F072193E5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Using binary encoding of states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Input columns have X whenever the variable is not used to determine next state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Outputs can be generated from inputs using a 2-to-4 decoder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86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A595D-4A47-4E14-BC3C-4FE37EEF484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Control circuit using D flip flops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29D9A62-ECF2-4FF5-B66F-5C88C9E9EE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447800"/>
            <a:ext cx="8153400" cy="509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09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60EB3A-E271-4686-9CCF-428ADB058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37338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1 FF per state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Single 1 that propagates from one FF to the next under control logic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altLang="en-US" sz="2400" i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en-US" altLang="en-US" sz="2400" i="0" dirty="0"/>
              <a:t>DT0 = T0S’ +  T3Z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altLang="en-US" sz="2400" i="0" dirty="0"/>
              <a:t>DT1 = T0S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altLang="en-US" sz="2400" i="0" dirty="0"/>
              <a:t>DT2 = T1 + T3Z’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altLang="en-US" sz="2400" i="0" dirty="0"/>
              <a:t>DT3 = T2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9D073-6C69-4DBE-A4C2-F5AEC128CA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Use of one hot encoding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D7AD516-8879-4986-9009-A5B20C471E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78"/>
          <a:stretch/>
        </p:blipFill>
        <p:spPr bwMode="auto">
          <a:xfrm>
            <a:off x="3886200" y="1483040"/>
            <a:ext cx="4800600" cy="4993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8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787903-50FB-4746-998C-DC7CD56E0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4191000" cy="4525963"/>
          </a:xfrm>
        </p:spPr>
        <p:txBody>
          <a:bodyPr/>
          <a:lstStyle/>
          <a:p>
            <a:r>
              <a:rPr lang="en-US" dirty="0"/>
              <a:t>General pattern: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Multiplexers determine the next state of registers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Registers hold the present state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Decoders provide separate output for control state</a:t>
            </a:r>
          </a:p>
          <a:p>
            <a:pPr marL="0" indent="0"/>
            <a:r>
              <a:rPr lang="en-US" dirty="0"/>
              <a:t>Predefined standard cells in many 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435EE-3C2D-44CE-996A-9B7AE67F613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with multiplexers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A5377BA-3EA2-4F8F-8168-442D32E1D3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0" b="6858"/>
          <a:stretch/>
        </p:blipFill>
        <p:spPr bwMode="auto">
          <a:xfrm>
            <a:off x="4421909" y="1951038"/>
            <a:ext cx="4414982" cy="406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13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41F95-72A8-4B8E-8D90-3412F156232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3581400" cy="1143000"/>
          </a:xfrm>
        </p:spPr>
        <p:txBody>
          <a:bodyPr/>
          <a:lstStyle/>
          <a:p>
            <a:r>
              <a:rPr lang="en-US" dirty="0"/>
              <a:t>Example – design with </a:t>
            </a:r>
            <a:r>
              <a:rPr lang="en-US" dirty="0" err="1"/>
              <a:t>muxes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33A8272-5E45-4C68-85A1-222EAC3328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211" y="-2060"/>
            <a:ext cx="5176313" cy="6860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7208095-B561-4A46-AA99-EE4B0081DF06}"/>
              </a:ext>
            </a:extLst>
          </p:cNvPr>
          <p:cNvSpPr txBox="1">
            <a:spLocks/>
          </p:cNvSpPr>
          <p:nvPr/>
        </p:nvSpPr>
        <p:spPr bwMode="auto">
          <a:xfrm>
            <a:off x="304800" y="1524000"/>
            <a:ext cx="3733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Focus on control part (state boxes left empty)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Binary state assignment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How many control inputs?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4!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/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3-level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27860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32B3-0DCF-407C-A219-63D076B5B0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3-level controller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E8B6A59-4474-4A50-84DE-37A348CC47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0" b="6858"/>
          <a:stretch/>
        </p:blipFill>
        <p:spPr bwMode="auto">
          <a:xfrm>
            <a:off x="2514600" y="1524000"/>
            <a:ext cx="5219700" cy="481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6031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15998</TotalTime>
  <Words>1396</Words>
  <Application>Microsoft Office PowerPoint</Application>
  <PresentationFormat>On-screen Show (4:3)</PresentationFormat>
  <Paragraphs>423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Wingdings</vt:lpstr>
      <vt:lpstr>Office Theme</vt:lpstr>
      <vt:lpstr>BITS Pilani  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642</cp:revision>
  <dcterms:created xsi:type="dcterms:W3CDTF">2010-01-15T20:22:21Z</dcterms:created>
  <dcterms:modified xsi:type="dcterms:W3CDTF">2025-11-13T09:34:25Z</dcterms:modified>
</cp:coreProperties>
</file>